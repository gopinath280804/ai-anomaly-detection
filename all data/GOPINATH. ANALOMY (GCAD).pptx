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76" r:id="rId2"/>
    <p:sldId id="266" r:id="rId3"/>
    <p:sldId id="269" r:id="rId4"/>
    <p:sldId id="257" r:id="rId5"/>
    <p:sldId id="258" r:id="rId6"/>
    <p:sldId id="259" r:id="rId7"/>
    <p:sldId id="260" r:id="rId8"/>
    <p:sldId id="275" r:id="rId9"/>
    <p:sldId id="272" r:id="rId10"/>
    <p:sldId id="271" r:id="rId11"/>
    <p:sldId id="261" r:id="rId12"/>
    <p:sldId id="262" r:id="rId13"/>
    <p:sldId id="263" r:id="rId14"/>
    <p:sldId id="264" r:id="rId15"/>
    <p:sldId id="267" r:id="rId16"/>
    <p:sldId id="273" r:id="rId17"/>
    <p:sldId id="274" r:id="rId18"/>
    <p:sldId id="265" r:id="rId19"/>
    <p:sldId id="270" r:id="rId20"/>
    <p:sldId id="268" r:id="rId21"/>
  </p:sldIdLst>
  <p:sldSz cx="14630400" cy="8229600"/>
  <p:notesSz cx="8229600" cy="14630400"/>
  <p:embeddedFontLst>
    <p:embeddedFont>
      <p:font typeface="Source Sans 3" panose="020B0604020202020204" charset="0"/>
      <p:regular r:id="rId23"/>
    </p:embeddedFont>
    <p:embeddedFont>
      <p:font typeface="Times New Roman Bold" panose="02020803070505020304" pitchFamily="18" charset="0"/>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504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F7B6A-5E6F-510A-F9BD-E74807AF7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87A30-AE95-C815-8C54-88D6316F4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A1228-2905-47C5-E994-D1DDB495D1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EE5A19-0BD3-E619-EFBA-EABDBF26B11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41334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4347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4906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4630400" cy="82296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121920" y="0"/>
            <a:ext cx="14630400" cy="82296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sz="1440"/>
            </a:p>
          </p:txBody>
        </p:sp>
      </p:grpSp>
      <p:sp>
        <p:nvSpPr>
          <p:cNvPr id="8" name="TextBox 8"/>
          <p:cNvSpPr txBox="1"/>
          <p:nvPr/>
        </p:nvSpPr>
        <p:spPr>
          <a:xfrm>
            <a:off x="1011556" y="1838960"/>
            <a:ext cx="12794615" cy="1231106"/>
          </a:xfrm>
          <a:prstGeom prst="rect">
            <a:avLst/>
          </a:prstGeom>
        </p:spPr>
        <p:txBody>
          <a:bodyPr lIns="0" tIns="0" rIns="0" bIns="0" rtlCol="0" anchor="t">
            <a:spAutoFit/>
          </a:bodyPr>
          <a:lstStyle/>
          <a:p>
            <a:pPr>
              <a:lnSpc>
                <a:spcPts val="4800"/>
              </a:lnSpc>
            </a:pPr>
            <a:r>
              <a:rPr lang="en-US" sz="40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DEPARTMENT OF INFORMATION TECHNOLOGY</a:t>
            </a:r>
          </a:p>
          <a:p>
            <a:pPr>
              <a:lnSpc>
                <a:spcPts val="4800"/>
              </a:lnSpc>
            </a:pPr>
            <a:endParaRPr lang="en-US" sz="40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9" name="TextBox 9"/>
          <p:cNvSpPr txBox="1"/>
          <p:nvPr/>
        </p:nvSpPr>
        <p:spPr>
          <a:xfrm>
            <a:off x="3015743" y="2529713"/>
            <a:ext cx="7979156" cy="974626"/>
          </a:xfrm>
          <a:prstGeom prst="rect">
            <a:avLst/>
          </a:prstGeom>
        </p:spPr>
        <p:txBody>
          <a:bodyPr lIns="0" tIns="0" rIns="0" bIns="0" rtlCol="0" anchor="t">
            <a:spAutoFit/>
          </a:bodyPr>
          <a:lstStyle/>
          <a:p>
            <a:pPr>
              <a:lnSpc>
                <a:spcPts val="3840"/>
              </a:lnSpc>
            </a:pPr>
            <a:r>
              <a:rPr lang="en-US" sz="32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PROJECT PHASE 2 REVIEW</a:t>
            </a:r>
          </a:p>
          <a:p>
            <a:pPr>
              <a:lnSpc>
                <a:spcPts val="3840"/>
              </a:lnSpc>
            </a:pPr>
            <a:endParaRPr lang="en-US" sz="32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10" name="TextBox 10"/>
          <p:cNvSpPr txBox="1"/>
          <p:nvPr/>
        </p:nvSpPr>
        <p:spPr>
          <a:xfrm>
            <a:off x="4557522" y="2948178"/>
            <a:ext cx="5378958" cy="4275209"/>
          </a:xfrm>
          <a:prstGeom prst="rect">
            <a:avLst/>
          </a:prstGeom>
        </p:spPr>
        <p:txBody>
          <a:bodyPr wrap="square" lIns="0" tIns="0" rIns="0" bIns="0" rtlCol="0" anchor="t">
            <a:spAutoFit/>
          </a:bodyPr>
          <a:lstStyle/>
          <a:p>
            <a:pPr>
              <a:lnSpc>
                <a:spcPts val="6000"/>
              </a:lnSpc>
            </a:pPr>
            <a:r>
              <a:rPr lang="en-US" sz="24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TEAM MEMBERS:</a:t>
            </a:r>
          </a:p>
          <a:p>
            <a:pPr algn="ctr">
              <a:lnSpc>
                <a:spcPts val="5999"/>
              </a:lnSpc>
            </a:pPr>
            <a:r>
              <a:rPr lang="en-US" sz="2400" dirty="0">
                <a:solidFill>
                  <a:srgbClr val="000000"/>
                </a:solidFill>
                <a:latin typeface="Times New Roman"/>
                <a:ea typeface="Times New Roman"/>
                <a:cs typeface="Times New Roman"/>
                <a:sym typeface="Times New Roman"/>
              </a:rPr>
              <a:t>ABDUL PATHIAQ.A      (22TH0102)</a:t>
            </a:r>
          </a:p>
          <a:p>
            <a:pPr algn="ctr">
              <a:lnSpc>
                <a:spcPts val="4200"/>
              </a:lnSpc>
            </a:pPr>
            <a:r>
              <a:rPr lang="en-US" sz="2400" dirty="0">
                <a:solidFill>
                  <a:srgbClr val="000000"/>
                </a:solidFill>
                <a:latin typeface="Times New Roman"/>
                <a:ea typeface="Times New Roman"/>
                <a:cs typeface="Times New Roman"/>
                <a:sym typeface="Times New Roman"/>
              </a:rPr>
              <a:t>DAVID RAJ.M                (22TH0112)</a:t>
            </a:r>
          </a:p>
          <a:p>
            <a:pPr algn="ctr">
              <a:lnSpc>
                <a:spcPts val="4200"/>
              </a:lnSpc>
            </a:pPr>
            <a:r>
              <a:rPr lang="en-US" sz="2400" dirty="0">
                <a:solidFill>
                  <a:srgbClr val="000000"/>
                </a:solidFill>
                <a:latin typeface="Times New Roman"/>
                <a:ea typeface="Times New Roman"/>
                <a:cs typeface="Times New Roman"/>
                <a:sym typeface="Times New Roman"/>
              </a:rPr>
              <a:t>GOPINATH.G                 (22TH0116)</a:t>
            </a:r>
          </a:p>
          <a:p>
            <a:pPr algn="ctr">
              <a:lnSpc>
                <a:spcPts val="4200"/>
              </a:lnSpc>
            </a:pPr>
            <a:r>
              <a:rPr lang="en-US" sz="2400" dirty="0">
                <a:solidFill>
                  <a:srgbClr val="000000"/>
                </a:solidFill>
                <a:latin typeface="Times New Roman"/>
                <a:ea typeface="Times New Roman"/>
                <a:cs typeface="Times New Roman"/>
                <a:sym typeface="Times New Roman"/>
              </a:rPr>
              <a:t>JAYAPRADAP.J              (22TH0122)</a:t>
            </a:r>
          </a:p>
          <a:p>
            <a:pPr>
              <a:lnSpc>
                <a:spcPts val="6000"/>
              </a:lnSpc>
            </a:pPr>
            <a:endParaRPr lang="en-US" sz="2400" dirty="0">
              <a:solidFill>
                <a:srgbClr val="000000"/>
              </a:solidFill>
              <a:latin typeface="Times New Roman"/>
              <a:ea typeface="Times New Roman"/>
              <a:cs typeface="Times New Roman"/>
              <a:sym typeface="Times New Roman"/>
            </a:endParaRPr>
          </a:p>
          <a:p>
            <a:pPr>
              <a:lnSpc>
                <a:spcPts val="2880"/>
              </a:lnSpc>
            </a:pPr>
            <a:endParaRPr lang="en-US" sz="2400" dirty="0">
              <a:solidFill>
                <a:srgbClr val="000000"/>
              </a:solidFill>
              <a:latin typeface="Times New Roman"/>
              <a:ea typeface="Times New Roman"/>
              <a:cs typeface="Times New Roman"/>
              <a:sym typeface="Times New Roman"/>
            </a:endParaRPr>
          </a:p>
        </p:txBody>
      </p:sp>
      <p:sp>
        <p:nvSpPr>
          <p:cNvPr id="11" name="TextBox 11"/>
          <p:cNvSpPr txBox="1"/>
          <p:nvPr/>
        </p:nvSpPr>
        <p:spPr>
          <a:xfrm>
            <a:off x="72517" y="6163056"/>
            <a:ext cx="4730496" cy="2556790"/>
          </a:xfrm>
          <a:prstGeom prst="rect">
            <a:avLst/>
          </a:prstGeom>
        </p:spPr>
        <p:txBody>
          <a:bodyPr lIns="0" tIns="0" rIns="0" bIns="0" rtlCol="0" anchor="t">
            <a:spAutoFit/>
          </a:bodyPr>
          <a:lstStyle/>
          <a:p>
            <a:pPr algn="ctr">
              <a:lnSpc>
                <a:spcPts val="4320"/>
              </a:lnSpc>
            </a:pPr>
            <a:r>
              <a:rPr lang="en-US" sz="24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PROJECT GUIDE:</a:t>
            </a:r>
          </a:p>
          <a:p>
            <a:pPr algn="ctr">
              <a:lnSpc>
                <a:spcPts val="4320"/>
              </a:lnSpc>
            </a:pPr>
            <a:r>
              <a:rPr lang="en-US" sz="2400" dirty="0" err="1">
                <a:solidFill>
                  <a:srgbClr val="000000"/>
                </a:solidFill>
                <a:latin typeface="Times New Roman"/>
                <a:ea typeface="Times New Roman"/>
                <a:cs typeface="Times New Roman"/>
                <a:sym typeface="Times New Roman"/>
              </a:rPr>
              <a:t>Mrs.RANJANI.R</a:t>
            </a:r>
            <a:endParaRPr lang="en-US" sz="2400" dirty="0">
              <a:solidFill>
                <a:srgbClr val="000000"/>
              </a:solidFill>
              <a:latin typeface="Times New Roman"/>
              <a:ea typeface="Times New Roman"/>
              <a:cs typeface="Times New Roman"/>
              <a:sym typeface="Times New Roman"/>
            </a:endParaRPr>
          </a:p>
          <a:p>
            <a:pPr algn="ctr">
              <a:lnSpc>
                <a:spcPts val="4320"/>
              </a:lnSpc>
            </a:pPr>
            <a:r>
              <a:rPr lang="en-US" sz="2400" dirty="0">
                <a:solidFill>
                  <a:srgbClr val="000000"/>
                </a:solidFill>
                <a:latin typeface="Times New Roman"/>
                <a:ea typeface="Times New Roman"/>
                <a:cs typeface="Times New Roman"/>
                <a:sym typeface="Times New Roman"/>
              </a:rPr>
              <a:t> M.E.,MBA.,(</a:t>
            </a:r>
            <a:r>
              <a:rPr lang="en-US" sz="2400" dirty="0" err="1">
                <a:solidFill>
                  <a:srgbClr val="000000"/>
                </a:solidFill>
                <a:latin typeface="Times New Roman"/>
                <a:ea typeface="Times New Roman"/>
                <a:cs typeface="Times New Roman"/>
                <a:sym typeface="Times New Roman"/>
              </a:rPr>
              <a:t>Ph.D</a:t>
            </a:r>
            <a:r>
              <a:rPr lang="en-US" sz="2400" dirty="0">
                <a:solidFill>
                  <a:srgbClr val="000000"/>
                </a:solidFill>
                <a:latin typeface="Times New Roman"/>
                <a:ea typeface="Times New Roman"/>
                <a:cs typeface="Times New Roman"/>
                <a:sym typeface="Times New Roman"/>
              </a:rPr>
              <a:t>).,M.I.S.T.E.,</a:t>
            </a:r>
          </a:p>
          <a:p>
            <a:pPr algn="ctr">
              <a:lnSpc>
                <a:spcPts val="4320"/>
              </a:lnSpc>
            </a:pPr>
            <a:r>
              <a:rPr lang="en-US" sz="2400" dirty="0">
                <a:solidFill>
                  <a:srgbClr val="000000"/>
                </a:solidFill>
                <a:latin typeface="Times New Roman"/>
                <a:ea typeface="Times New Roman"/>
                <a:cs typeface="Times New Roman"/>
                <a:sym typeface="Times New Roman"/>
              </a:rPr>
              <a:t> </a:t>
            </a:r>
          </a:p>
          <a:p>
            <a:pPr>
              <a:lnSpc>
                <a:spcPts val="2880"/>
              </a:lnSpc>
            </a:pPr>
            <a:endParaRPr lang="en-US" sz="2400" dirty="0">
              <a:solidFill>
                <a:srgbClr val="000000"/>
              </a:solidFill>
              <a:latin typeface="Times New Roman"/>
              <a:ea typeface="Times New Roman"/>
              <a:cs typeface="Times New Roman"/>
              <a:sym typeface="Times New Roman"/>
            </a:endParaRPr>
          </a:p>
        </p:txBody>
      </p:sp>
      <p:sp>
        <p:nvSpPr>
          <p:cNvPr id="12" name="TextBox 12"/>
          <p:cNvSpPr txBox="1"/>
          <p:nvPr/>
        </p:nvSpPr>
        <p:spPr>
          <a:xfrm>
            <a:off x="9265666" y="6162548"/>
            <a:ext cx="4730496" cy="1588576"/>
          </a:xfrm>
          <a:prstGeom prst="rect">
            <a:avLst/>
          </a:prstGeom>
        </p:spPr>
        <p:txBody>
          <a:bodyPr lIns="0" tIns="0" rIns="0" bIns="0" rtlCol="0" anchor="t">
            <a:spAutoFit/>
          </a:bodyPr>
          <a:lstStyle/>
          <a:p>
            <a:pPr algn="ctr">
              <a:lnSpc>
                <a:spcPts val="4320"/>
              </a:lnSpc>
            </a:pPr>
            <a:r>
              <a:rPr lang="en-US" sz="24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PROJECT COORDINATOR:</a:t>
            </a:r>
          </a:p>
          <a:p>
            <a:pPr algn="ctr">
              <a:lnSpc>
                <a:spcPts val="4320"/>
              </a:lnSpc>
            </a:pPr>
            <a:r>
              <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MR.J.MANI </a:t>
            </a:r>
          </a:p>
          <a:p>
            <a:pPr algn="ctr">
              <a:lnSpc>
                <a:spcPts val="4320"/>
              </a:lnSpc>
            </a:pPr>
            <a:r>
              <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HOD/IT (M.E.,</a:t>
            </a:r>
            <a:r>
              <a:rPr lang="en-US" sz="24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Ph.D</a:t>
            </a:r>
            <a:r>
              <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p>
        </p:txBody>
      </p:sp>
      <p:pic>
        <p:nvPicPr>
          <p:cNvPr id="7" name="Picture 6">
            <a:extLst>
              <a:ext uri="{FF2B5EF4-FFF2-40B4-BE49-F238E27FC236}">
                <a16:creationId xmlns:a16="http://schemas.microsoft.com/office/drawing/2014/main" id="{C8731FFF-6D16-9A3C-45C8-45235B8A2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20321"/>
            <a:ext cx="14197902" cy="18401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2503502" y="2868447"/>
            <a:ext cx="10822206" cy="2071080"/>
          </a:xfrm>
          <a:prstGeom prst="rect">
            <a:avLst/>
          </a:prstGeom>
        </p:spPr>
        <p:txBody>
          <a:bodyPr wrap="square" lIns="0" tIns="0" rIns="0" bIns="0" rtlCol="0" anchor="t">
            <a:spAutoFit/>
          </a:bodyPr>
          <a:lstStyle/>
          <a:p>
            <a:pPr algn="just">
              <a:lnSpc>
                <a:spcPts val="5550"/>
              </a:lnSpc>
            </a:pPr>
            <a:r>
              <a:rPr lang="en-US" sz="3600" b="1" dirty="0">
                <a:latin typeface="Times New Roman" panose="02020603050405020304" pitchFamily="18" charset="0"/>
                <a:ea typeface="MuseoModerno Medium" pitchFamily="34" charset="-122"/>
                <a:cs typeface="Times New Roman" panose="02020603050405020304" pitchFamily="18" charset="0"/>
              </a:rPr>
              <a:t>AI-DRIVEN CYBER ANOMALY DETECTION AND SECURE AUDIT LOGGING FRAMEWORK</a:t>
            </a:r>
            <a:endParaRPr lang="en-US" sz="3600" b="1" dirty="0">
              <a:latin typeface="Times New Roman" panose="02020603050405020304" pitchFamily="18" charset="0"/>
              <a:cs typeface="Times New Roman" panose="02020603050405020304" pitchFamily="18" charset="0"/>
            </a:endParaRPr>
          </a:p>
          <a:p>
            <a:pPr algn="just">
              <a:lnSpc>
                <a:spcPts val="5550"/>
              </a:lnSpc>
            </a:pPr>
            <a:endParaRPr lang="en-US" sz="3600" b="1" dirty="0">
              <a:solidFill>
                <a:srgbClr val="000000"/>
              </a:solidFill>
              <a:latin typeface="Times New Roman" panose="02020603050405020304" pitchFamily="18" charset="0"/>
              <a:ea typeface="Arimo Bold"/>
              <a:cs typeface="Times New Roman" panose="02020603050405020304" pitchFamily="18" charset="0"/>
              <a:sym typeface="Arimo Bold"/>
            </a:endParaRPr>
          </a:p>
        </p:txBody>
      </p:sp>
      <p:sp>
        <p:nvSpPr>
          <p:cNvPr id="11" name="TextBox 11"/>
          <p:cNvSpPr txBox="1"/>
          <p:nvPr/>
        </p:nvSpPr>
        <p:spPr>
          <a:xfrm>
            <a:off x="3536989" y="4455004"/>
            <a:ext cx="7556421" cy="294953"/>
          </a:xfrm>
          <a:prstGeom prst="rect">
            <a:avLst/>
          </a:prstGeom>
        </p:spPr>
        <p:txBody>
          <a:bodyPr lIns="0" tIns="0" rIns="0" bIns="0" rtlCol="0" anchor="t">
            <a:spAutoFit/>
          </a:bodyPr>
          <a:lstStyle/>
          <a:p>
            <a:pPr algn="ctr">
              <a:lnSpc>
                <a:spcPts val="2250"/>
              </a:lnSpc>
            </a:pPr>
            <a:r>
              <a:rPr lang="en-US" dirty="0">
                <a:solidFill>
                  <a:srgbClr val="000000"/>
                </a:solidFill>
                <a:latin typeface="Times New Roman" panose="02020603050405020304" pitchFamily="18" charset="0"/>
                <a:ea typeface="Arimo"/>
                <a:cs typeface="Times New Roman" panose="02020603050405020304" pitchFamily="18" charset="0"/>
                <a:sym typeface="Arimo"/>
              </a:rPr>
              <a:t>PROJECT</a:t>
            </a:r>
            <a:r>
              <a:rPr lang="en-US" sz="1920" dirty="0">
                <a:solidFill>
                  <a:srgbClr val="000000"/>
                </a:solidFill>
                <a:latin typeface="Times New Roman" panose="02020603050405020304" pitchFamily="18" charset="0"/>
                <a:ea typeface="Arimo"/>
                <a:cs typeface="Times New Roman" panose="02020603050405020304" pitchFamily="18" charset="0"/>
                <a:sym typeface="Arimo"/>
              </a:rPr>
              <a:t> </a:t>
            </a:r>
            <a:r>
              <a:rPr lang="en-US" dirty="0">
                <a:solidFill>
                  <a:srgbClr val="000000"/>
                </a:solidFill>
                <a:latin typeface="Times New Roman" panose="02020603050405020304" pitchFamily="18" charset="0"/>
                <a:ea typeface="Arimo"/>
                <a:cs typeface="Times New Roman" panose="02020603050405020304" pitchFamily="18" charset="0"/>
                <a:sym typeface="Arimo"/>
              </a:rPr>
              <a:t>REPORT</a:t>
            </a:r>
            <a:r>
              <a:rPr lang="en-US" sz="1920" dirty="0">
                <a:solidFill>
                  <a:srgbClr val="000000"/>
                </a:solidFill>
                <a:latin typeface="Times New Roman" panose="02020603050405020304" pitchFamily="18" charset="0"/>
                <a:ea typeface="Arimo"/>
                <a:cs typeface="Times New Roman" panose="02020603050405020304" pitchFamily="18" charset="0"/>
                <a:sym typeface="Arimo"/>
              </a:rPr>
              <a:t> PHASE II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FB447-8DB9-1E65-3800-03D5F8FCD0DC}"/>
              </a:ext>
            </a:extLst>
          </p:cNvPr>
          <p:cNvSpPr txBox="1"/>
          <p:nvPr/>
        </p:nvSpPr>
        <p:spPr>
          <a:xfrm>
            <a:off x="546409" y="814040"/>
            <a:ext cx="1741182"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AGENDA</a:t>
            </a:r>
            <a:endParaRPr lang="en-IN"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6AE1F94-B3E0-B75F-0A0D-7CD29B70CD91}"/>
              </a:ext>
            </a:extLst>
          </p:cNvPr>
          <p:cNvSpPr txBox="1"/>
          <p:nvPr/>
        </p:nvSpPr>
        <p:spPr>
          <a:xfrm>
            <a:off x="575263" y="1537528"/>
            <a:ext cx="5353645" cy="5859553"/>
          </a:xfrm>
          <a:prstGeom prst="rect">
            <a:avLst/>
          </a:prstGeom>
          <a:noFill/>
        </p:spPr>
        <p:txBody>
          <a:bodyPr wrap="none" rtlCol="0">
            <a:spAutoFit/>
          </a:bodyPr>
          <a:lstStyle/>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ABSTRACT</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INTRODUCTION AND PROBLEM STATEMENT</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LITERATURE OVERVIEW</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OBJECTIVES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EXISTING SYSTEM</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PROPOSED SYSTEM </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METHODOLOGY</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SYSTEM ARCHITECTURE</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IMPLEMENTATION</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RESULTS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ADVANTAGES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LIMITATIONS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CONCLUSION</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49397F2-A91E-ABE0-4F1C-085766C6685F}"/>
              </a:ext>
            </a:extLst>
          </p:cNvPr>
          <p:cNvSpPr txBox="1"/>
          <p:nvPr/>
        </p:nvSpPr>
        <p:spPr>
          <a:xfrm>
            <a:off x="8969297" y="4817007"/>
            <a:ext cx="556434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82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061420" y="568393"/>
            <a:ext cx="4961811" cy="620078"/>
          </a:xfrm>
          <a:prstGeom prst="rect">
            <a:avLst/>
          </a:prstGeom>
          <a:noFill/>
          <a:ln/>
        </p:spPr>
        <p:txBody>
          <a:bodyPr wrap="none" lIns="0" tIns="0" rIns="0" bIns="0" rtlCol="0" anchor="t"/>
          <a:lstStyle/>
          <a:p>
            <a:pPr marL="0" indent="0" algn="l">
              <a:lnSpc>
                <a:spcPts val="48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ABSTRACT</a:t>
            </a:r>
            <a:endParaRPr lang="en-US" sz="2800" b="1" dirty="0">
              <a:latin typeface="Times New Roman" panose="02020603050405020304" pitchFamily="18" charset="0"/>
              <a:cs typeface="Times New Roman" panose="02020603050405020304" pitchFamily="18" charset="0"/>
            </a:endParaRPr>
          </a:p>
        </p:txBody>
      </p:sp>
      <p:sp>
        <p:nvSpPr>
          <p:cNvPr id="4" name="Text 1"/>
          <p:cNvSpPr/>
          <p:nvPr/>
        </p:nvSpPr>
        <p:spPr>
          <a:xfrm>
            <a:off x="1061420" y="1349097"/>
            <a:ext cx="8595536" cy="1587698"/>
          </a:xfrm>
          <a:prstGeom prst="rect">
            <a:avLst/>
          </a:prstGeom>
          <a:noFill/>
          <a:ln/>
        </p:spPr>
        <p:txBody>
          <a:bodyPr wrap="square" lIns="0" tIns="0" rIns="0" bIns="0" rtlCol="0" anchor="t"/>
          <a:lstStyle/>
          <a:p>
            <a:pPr marL="285750" indent="-285750">
              <a:lnSpc>
                <a:spcPts val="25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Traditional intrusion detection systems rely on static signatures and predefined rules, failing against zero-day attacks and advanced persistent threats. </a:t>
            </a:r>
          </a:p>
          <a:p>
            <a:pPr marL="285750" indent="-285750">
              <a:lnSpc>
                <a:spcPts val="2500"/>
              </a:lnSpc>
              <a:buFont typeface="Arial" panose="020B0604020202020204" pitchFamily="34" charset="0"/>
              <a:buChar char="•"/>
            </a:pPr>
            <a:endParaRPr lang="en-US" dirty="0">
              <a:latin typeface="Times New Roman" panose="02020603050405020304" pitchFamily="18" charset="0"/>
              <a:ea typeface="Source Sans 3" pitchFamily="34" charset="-122"/>
              <a:cs typeface="Times New Roman" panose="02020603050405020304" pitchFamily="18" charset="0"/>
            </a:endParaRPr>
          </a:p>
          <a:p>
            <a:pPr marL="285750" indent="-285750">
              <a:lnSpc>
                <a:spcPts val="25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The proposed </a:t>
            </a:r>
            <a:r>
              <a:rPr lang="en-US" b="1" dirty="0">
                <a:latin typeface="Times New Roman" panose="02020603050405020304" pitchFamily="18" charset="0"/>
                <a:ea typeface="Source Sans 3" pitchFamily="34" charset="-122"/>
                <a:cs typeface="Times New Roman" panose="02020603050405020304" pitchFamily="18" charset="0"/>
              </a:rPr>
              <a:t>CAD framework</a:t>
            </a:r>
            <a:r>
              <a:rPr lang="en-US" dirty="0">
                <a:latin typeface="Times New Roman" panose="02020603050405020304" pitchFamily="18" charset="0"/>
                <a:ea typeface="Source Sans 3" pitchFamily="34" charset="-122"/>
                <a:cs typeface="Times New Roman" panose="02020603050405020304" pitchFamily="18" charset="0"/>
              </a:rPr>
              <a:t> addresses this by combining rule-based techniques with intelligent scoring to analyze user and network activities through preprocessing, keyword extraction, and contextual evaluation.</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1908384" y="3871674"/>
            <a:ext cx="2564963"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Dynamic Risk Scoring</a:t>
            </a:r>
            <a:endParaRPr lang="en-US" b="1" dirty="0">
              <a:latin typeface="Times New Roman" panose="02020603050405020304" pitchFamily="18" charset="0"/>
              <a:cs typeface="Times New Roman" panose="02020603050405020304" pitchFamily="18" charset="0"/>
            </a:endParaRPr>
          </a:p>
        </p:txBody>
      </p:sp>
      <p:sp>
        <p:nvSpPr>
          <p:cNvPr id="7" name="Text 4"/>
          <p:cNvSpPr/>
          <p:nvPr/>
        </p:nvSpPr>
        <p:spPr>
          <a:xfrm>
            <a:off x="1351351" y="4276011"/>
            <a:ext cx="3679031" cy="635079"/>
          </a:xfrm>
          <a:prstGeom prst="rect">
            <a:avLst/>
          </a:prstGeom>
          <a:noFill/>
          <a:ln/>
        </p:spPr>
        <p:txBody>
          <a:bodyPr wrap="square" lIns="0" tIns="0" rIns="0" bIns="0" rtlCol="0" anchor="t"/>
          <a:lstStyle/>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Each event receives a score from 0–100, classified as low, medium, or high risk.</a:t>
            </a:r>
            <a:endParaRPr lang="en-US" dirty="0">
              <a:latin typeface="Times New Roman" panose="02020603050405020304" pitchFamily="18" charset="0"/>
              <a:cs typeface="Times New Roman" panose="02020603050405020304" pitchFamily="18" charset="0"/>
            </a:endParaRPr>
          </a:p>
        </p:txBody>
      </p:sp>
      <p:sp>
        <p:nvSpPr>
          <p:cNvPr id="9" name="Text 6"/>
          <p:cNvSpPr/>
          <p:nvPr/>
        </p:nvSpPr>
        <p:spPr>
          <a:xfrm>
            <a:off x="6623557" y="3871674"/>
            <a:ext cx="2520077"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Secure Audit Logging</a:t>
            </a:r>
            <a:endParaRPr lang="en-US" b="1" dirty="0">
              <a:latin typeface="Times New Roman" panose="02020603050405020304" pitchFamily="18" charset="0"/>
              <a:cs typeface="Times New Roman" panose="02020603050405020304" pitchFamily="18" charset="0"/>
            </a:endParaRPr>
          </a:p>
        </p:txBody>
      </p:sp>
      <p:sp>
        <p:nvSpPr>
          <p:cNvPr id="10" name="Text 7"/>
          <p:cNvSpPr/>
          <p:nvPr/>
        </p:nvSpPr>
        <p:spPr>
          <a:xfrm>
            <a:off x="5944047" y="4276011"/>
            <a:ext cx="3633724" cy="635079"/>
          </a:xfrm>
          <a:prstGeom prst="rect">
            <a:avLst/>
          </a:prstGeom>
          <a:noFill/>
          <a:ln/>
        </p:spPr>
        <p:txBody>
          <a:bodyPr wrap="square" lIns="0" tIns="0" rIns="0" bIns="0" rtlCol="0" anchor="t"/>
          <a:lstStyle/>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Tamper-resistant, structured event records supporting forensic analysis</a:t>
            </a:r>
            <a:r>
              <a:rPr lang="en-US" sz="1550" dirty="0">
                <a:solidFill>
                  <a:srgbClr val="2B4150"/>
                </a:solidFill>
                <a:latin typeface="Source Sans 3" pitchFamily="34" charset="0"/>
                <a:ea typeface="Source Sans 3" pitchFamily="34" charset="-122"/>
                <a:cs typeface="Source Sans 3" pitchFamily="34" charset="-120"/>
              </a:rPr>
              <a:t>.</a:t>
            </a:r>
            <a:endParaRPr lang="en-US" sz="1550" dirty="0"/>
          </a:p>
        </p:txBody>
      </p:sp>
      <p:sp>
        <p:nvSpPr>
          <p:cNvPr id="12" name="Text 9"/>
          <p:cNvSpPr/>
          <p:nvPr/>
        </p:nvSpPr>
        <p:spPr>
          <a:xfrm>
            <a:off x="1908622" y="5974063"/>
            <a:ext cx="2564725"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Real-Time Dashboard</a:t>
            </a:r>
            <a:endParaRPr lang="en-US" b="1" dirty="0">
              <a:latin typeface="Times New Roman" panose="02020603050405020304" pitchFamily="18" charset="0"/>
              <a:cs typeface="Times New Roman" panose="02020603050405020304" pitchFamily="18" charset="0"/>
            </a:endParaRPr>
          </a:p>
        </p:txBody>
      </p:sp>
      <p:sp>
        <p:nvSpPr>
          <p:cNvPr id="13" name="Text 10"/>
          <p:cNvSpPr/>
          <p:nvPr/>
        </p:nvSpPr>
        <p:spPr>
          <a:xfrm>
            <a:off x="1351352" y="6358120"/>
            <a:ext cx="3679030" cy="1044765"/>
          </a:xfrm>
          <a:prstGeom prst="rect">
            <a:avLst/>
          </a:prstGeom>
          <a:noFill/>
          <a:ln/>
        </p:spPr>
        <p:txBody>
          <a:bodyPr wrap="none" lIns="0" tIns="0" rIns="0" bIns="0" rtlCol="0" anchor="t"/>
          <a:lstStyle/>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Interactive web-based visualization </a:t>
            </a:r>
          </a:p>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of anomalies, risk levels, and system</a:t>
            </a:r>
          </a:p>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 activity</a:t>
            </a:r>
            <a:r>
              <a:rPr lang="en-US" dirty="0">
                <a:solidFill>
                  <a:srgbClr val="2B4150"/>
                </a:solidFill>
                <a:latin typeface="Times New Roman" panose="02020603050405020304" pitchFamily="18" charset="0"/>
                <a:ea typeface="Source Sans 3"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227CED33-5C4A-FE50-CE86-99BFFBC40FEF}"/>
              </a:ext>
            </a:extLst>
          </p:cNvPr>
          <p:cNvGraphicFramePr>
            <a:graphicFrameLocks noGrp="1"/>
          </p:cNvGraphicFramePr>
          <p:nvPr>
            <p:extLst>
              <p:ext uri="{D42A27DB-BD31-4B8C-83A1-F6EECF244321}">
                <p14:modId xmlns:p14="http://schemas.microsoft.com/office/powerpoint/2010/main" val="294154460"/>
              </p:ext>
            </p:extLst>
          </p:nvPr>
        </p:nvGraphicFramePr>
        <p:xfrm>
          <a:off x="5709424" y="3713357"/>
          <a:ext cx="4237464" cy="1579450"/>
        </p:xfrm>
        <a:graphic>
          <a:graphicData uri="http://schemas.openxmlformats.org/drawingml/2006/table">
            <a:tbl>
              <a:tblPr/>
              <a:tblGrid>
                <a:gridCol w="4237464">
                  <a:extLst>
                    <a:ext uri="{9D8B030D-6E8A-4147-A177-3AD203B41FA5}">
                      <a16:colId xmlns:a16="http://schemas.microsoft.com/office/drawing/2014/main" val="1259781477"/>
                    </a:ext>
                  </a:extLst>
                </a:gridCol>
              </a:tblGrid>
              <a:tr h="157945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056766781"/>
                  </a:ext>
                </a:extLst>
              </a:tr>
            </a:tbl>
          </a:graphicData>
        </a:graphic>
      </p:graphicFrame>
      <p:graphicFrame>
        <p:nvGraphicFramePr>
          <p:cNvPr id="17" name="Table 16">
            <a:extLst>
              <a:ext uri="{FF2B5EF4-FFF2-40B4-BE49-F238E27FC236}">
                <a16:creationId xmlns:a16="http://schemas.microsoft.com/office/drawing/2014/main" id="{342BDA0B-CF6B-6F88-CEDC-6EFA4EAD2E5F}"/>
              </a:ext>
            </a:extLst>
          </p:cNvPr>
          <p:cNvGraphicFramePr>
            <a:graphicFrameLocks noGrp="1"/>
          </p:cNvGraphicFramePr>
          <p:nvPr>
            <p:extLst>
              <p:ext uri="{D42A27DB-BD31-4B8C-83A1-F6EECF244321}">
                <p14:modId xmlns:p14="http://schemas.microsoft.com/office/powerpoint/2010/main" val="4054201691"/>
              </p:ext>
            </p:extLst>
          </p:nvPr>
        </p:nvGraphicFramePr>
        <p:xfrm>
          <a:off x="1103971" y="3713357"/>
          <a:ext cx="4114800" cy="1579450"/>
        </p:xfrm>
        <a:graphic>
          <a:graphicData uri="http://schemas.openxmlformats.org/drawingml/2006/table">
            <a:tbl>
              <a:tblPr/>
              <a:tblGrid>
                <a:gridCol w="4114800">
                  <a:extLst>
                    <a:ext uri="{9D8B030D-6E8A-4147-A177-3AD203B41FA5}">
                      <a16:colId xmlns:a16="http://schemas.microsoft.com/office/drawing/2014/main" val="3773682527"/>
                    </a:ext>
                  </a:extLst>
                </a:gridCol>
              </a:tblGrid>
              <a:tr h="157945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104625364"/>
                  </a:ext>
                </a:extLst>
              </a:tr>
            </a:tbl>
          </a:graphicData>
        </a:graphic>
      </p:graphicFrame>
      <p:graphicFrame>
        <p:nvGraphicFramePr>
          <p:cNvPr id="18" name="Table 17">
            <a:extLst>
              <a:ext uri="{FF2B5EF4-FFF2-40B4-BE49-F238E27FC236}">
                <a16:creationId xmlns:a16="http://schemas.microsoft.com/office/drawing/2014/main" id="{9743A6CE-E0E6-8E10-5047-BE4C5366048A}"/>
              </a:ext>
            </a:extLst>
          </p:cNvPr>
          <p:cNvGraphicFramePr>
            <a:graphicFrameLocks noGrp="1"/>
          </p:cNvGraphicFramePr>
          <p:nvPr>
            <p:extLst>
              <p:ext uri="{D42A27DB-BD31-4B8C-83A1-F6EECF244321}">
                <p14:modId xmlns:p14="http://schemas.microsoft.com/office/powerpoint/2010/main" val="415592085"/>
              </p:ext>
            </p:extLst>
          </p:nvPr>
        </p:nvGraphicFramePr>
        <p:xfrm>
          <a:off x="1103971" y="5820937"/>
          <a:ext cx="4114800" cy="1605775"/>
        </p:xfrm>
        <a:graphic>
          <a:graphicData uri="http://schemas.openxmlformats.org/drawingml/2006/table">
            <a:tbl>
              <a:tblPr/>
              <a:tblGrid>
                <a:gridCol w="4114800">
                  <a:extLst>
                    <a:ext uri="{9D8B030D-6E8A-4147-A177-3AD203B41FA5}">
                      <a16:colId xmlns:a16="http://schemas.microsoft.com/office/drawing/2014/main" val="2448136740"/>
                    </a:ext>
                  </a:extLst>
                </a:gridCol>
              </a:tblGrid>
              <a:tr h="160577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40691685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6049" y="621573"/>
            <a:ext cx="8337590" cy="620078"/>
          </a:xfrm>
          <a:prstGeom prst="rect">
            <a:avLst/>
          </a:prstGeom>
          <a:noFill/>
          <a:ln/>
        </p:spPr>
        <p:txBody>
          <a:bodyPr wrap="none" lIns="0" tIns="0" rIns="0" bIns="0" rtlCol="0" anchor="t"/>
          <a:lstStyle/>
          <a:p>
            <a:pPr marL="0" indent="0" algn="l">
              <a:lnSpc>
                <a:spcPts val="48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INTRODUCTION &amp; PROBLEM STATEMENT</a:t>
            </a:r>
            <a:endParaRPr lang="en-US" sz="2800" b="1" dirty="0">
              <a:latin typeface="Times New Roman" panose="02020603050405020304" pitchFamily="18" charset="0"/>
              <a:cs typeface="Times New Roman" panose="02020603050405020304" pitchFamily="18" charset="0"/>
            </a:endParaRPr>
          </a:p>
        </p:txBody>
      </p:sp>
      <p:sp>
        <p:nvSpPr>
          <p:cNvPr id="4" name="Text 2"/>
          <p:cNvSpPr/>
          <p:nvPr/>
        </p:nvSpPr>
        <p:spPr>
          <a:xfrm>
            <a:off x="849273" y="2078239"/>
            <a:ext cx="3752612"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Why Traditional IDS Falls Short</a:t>
            </a:r>
            <a:endParaRPr lang="en-US" b="1" dirty="0">
              <a:latin typeface="Times New Roman" panose="02020603050405020304" pitchFamily="18" charset="0"/>
              <a:cs typeface="Times New Roman" panose="02020603050405020304" pitchFamily="18" charset="0"/>
            </a:endParaRPr>
          </a:p>
        </p:txBody>
      </p:sp>
      <p:sp>
        <p:nvSpPr>
          <p:cNvPr id="5" name="Text 3"/>
          <p:cNvSpPr/>
          <p:nvPr/>
        </p:nvSpPr>
        <p:spPr>
          <a:xfrm>
            <a:off x="849273" y="2739876"/>
            <a:ext cx="6168390" cy="952619"/>
          </a:xfrm>
          <a:prstGeom prst="rect">
            <a:avLst/>
          </a:prstGeom>
          <a:noFill/>
          <a:ln/>
        </p:spPr>
        <p:txBody>
          <a:bodyPr wrap="square" lIns="0" tIns="0" rIns="0" bIns="0" rtlCol="0" anchor="t"/>
          <a:lstStyle/>
          <a:p>
            <a:pPr marL="285750" indent="-285750" algn="just">
              <a:lnSpc>
                <a:spcPts val="25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Signature-based systems depend on known attack patterns, making them ineffective against zero-day exploits, insider threats, and </a:t>
            </a:r>
            <a:r>
              <a:rPr lang="en-US" dirty="0" err="1">
                <a:latin typeface="Times New Roman" panose="02020603050405020304" pitchFamily="18" charset="0"/>
                <a:ea typeface="Source Sans 3" pitchFamily="34" charset="-122"/>
                <a:cs typeface="Times New Roman" panose="02020603050405020304" pitchFamily="18" charset="0"/>
              </a:rPr>
              <a:t>APTs.</a:t>
            </a:r>
            <a:r>
              <a:rPr lang="en-US" dirty="0">
                <a:latin typeface="Times New Roman" panose="02020603050405020304" pitchFamily="18" charset="0"/>
                <a:ea typeface="Source Sans 3" pitchFamily="34" charset="-122"/>
                <a:cs typeface="Times New Roman" panose="02020603050405020304" pitchFamily="18" charset="0"/>
              </a:rPr>
              <a:t> </a:t>
            </a:r>
          </a:p>
          <a:p>
            <a:pPr marL="285750" indent="-285750" algn="just">
              <a:lnSpc>
                <a:spcPts val="2500"/>
              </a:lnSpc>
              <a:buFont typeface="Arial" panose="020B0604020202020204" pitchFamily="34" charset="0"/>
              <a:buChar char="•"/>
            </a:pPr>
            <a:endParaRPr lang="en-US" dirty="0">
              <a:latin typeface="Times New Roman" panose="02020603050405020304" pitchFamily="18" charset="0"/>
              <a:ea typeface="Source Sans 3" pitchFamily="34" charset="-122"/>
              <a:cs typeface="Times New Roman" panose="02020603050405020304" pitchFamily="18" charset="0"/>
            </a:endParaRPr>
          </a:p>
        </p:txBody>
      </p:sp>
      <p:sp>
        <p:nvSpPr>
          <p:cNvPr id="6" name="Text 4"/>
          <p:cNvSpPr/>
          <p:nvPr/>
        </p:nvSpPr>
        <p:spPr>
          <a:xfrm>
            <a:off x="849273" y="3656641"/>
            <a:ext cx="6168390" cy="1478399"/>
          </a:xfrm>
          <a:prstGeom prst="rect">
            <a:avLst/>
          </a:prstGeom>
          <a:noFill/>
          <a:ln/>
        </p:spPr>
        <p:txBody>
          <a:bodyPr wrap="square" lIns="0" tIns="0" rIns="0" bIns="0" rtlCol="0" anchor="t"/>
          <a:lstStyle/>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Cannot detect unknown or evolving attacks</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No dynamic risk prioritization</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Lack tamper-resistant logging</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Detection and logging rarely integrated</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348742" y="1992380"/>
            <a:ext cx="2480905"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The CAD Solution</a:t>
            </a:r>
            <a:endParaRPr lang="en-US" b="1" dirty="0">
              <a:latin typeface="Times New Roman" panose="02020603050405020304" pitchFamily="18" charset="0"/>
              <a:cs typeface="Times New Roman" panose="02020603050405020304" pitchFamily="18" charset="0"/>
            </a:endParaRPr>
          </a:p>
        </p:txBody>
      </p:sp>
      <p:sp>
        <p:nvSpPr>
          <p:cNvPr id="8" name="Text 6"/>
          <p:cNvSpPr/>
          <p:nvPr/>
        </p:nvSpPr>
        <p:spPr>
          <a:xfrm>
            <a:off x="8348742" y="2565311"/>
            <a:ext cx="5105479" cy="635079"/>
          </a:xfrm>
          <a:prstGeom prst="rect">
            <a:avLst/>
          </a:prstGeom>
          <a:noFill/>
          <a:ln/>
        </p:spPr>
        <p:txBody>
          <a:bodyPr wrap="square" lIns="0" tIns="0" rIns="0" bIns="0" rtlCol="0" anchor="t"/>
          <a:lstStyle/>
          <a:p>
            <a:pPr marL="285750" indent="-285750" algn="just">
              <a:lnSpc>
                <a:spcPts val="25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CAD bridges the gap between traditional detection and advanced AI-driven security by integrating:</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348742" y="3463163"/>
            <a:ext cx="6279356" cy="1865352"/>
          </a:xfrm>
          <a:prstGeom prst="rect">
            <a:avLst/>
          </a:prstGeom>
          <a:noFill/>
          <a:ln/>
        </p:spPr>
        <p:txBody>
          <a:bodyPr wrap="square" lIns="0" tIns="0" rIns="0" bIns="0" rtlCol="0" anchor="t"/>
          <a:lstStyle/>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Real-time behavioral anomaly detection</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Multi-stage preprocessing and feature extraction</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Dynamic risk scoring and classification</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Secure, structured audit logging</a:t>
            </a:r>
            <a:endParaRPr lang="en-US" dirty="0">
              <a:latin typeface="Times New Roman" panose="02020603050405020304" pitchFamily="18" charset="0"/>
              <a:cs typeface="Times New Roman" panose="02020603050405020304" pitchFamily="18" charset="0"/>
            </a:endParaRPr>
          </a:p>
          <a:p>
            <a:pPr marL="342900" indent="-342900" algn="l">
              <a:lnSpc>
                <a:spcPct val="250000"/>
              </a:lnSpc>
              <a:buSzPct val="100000"/>
              <a:buChar char="•"/>
            </a:pPr>
            <a:r>
              <a:rPr lang="en-US" dirty="0">
                <a:latin typeface="Times New Roman" panose="02020603050405020304" pitchFamily="18" charset="0"/>
                <a:ea typeface="Source Sans 3" pitchFamily="34" charset="-122"/>
                <a:cs typeface="Times New Roman" panose="02020603050405020304" pitchFamily="18" charset="0"/>
              </a:rPr>
              <a:t>Interactive monitoring dashboard</a:t>
            </a:r>
            <a:endParaRPr lang="en-US" dirty="0">
              <a:latin typeface="Times New Roman" panose="02020603050405020304" pitchFamily="18" charset="0"/>
              <a:cs typeface="Times New Roman" panose="02020603050405020304" pitchFamily="18" charset="0"/>
            </a:endParaRPr>
          </a:p>
        </p:txBody>
      </p:sp>
      <p:graphicFrame>
        <p:nvGraphicFramePr>
          <p:cNvPr id="17" name="Table 16">
            <a:extLst>
              <a:ext uri="{FF2B5EF4-FFF2-40B4-BE49-F238E27FC236}">
                <a16:creationId xmlns:a16="http://schemas.microsoft.com/office/drawing/2014/main" id="{2DFE30CC-588C-5268-429A-8F57E0FD2A3A}"/>
              </a:ext>
            </a:extLst>
          </p:cNvPr>
          <p:cNvGraphicFramePr>
            <a:graphicFrameLocks noGrp="1"/>
          </p:cNvGraphicFramePr>
          <p:nvPr/>
        </p:nvGraphicFramePr>
        <p:xfrm>
          <a:off x="646771" y="1962615"/>
          <a:ext cx="6579219" cy="4928839"/>
        </p:xfrm>
        <a:graphic>
          <a:graphicData uri="http://schemas.openxmlformats.org/drawingml/2006/table">
            <a:tbl>
              <a:tblPr/>
              <a:tblGrid>
                <a:gridCol w="6579219">
                  <a:extLst>
                    <a:ext uri="{9D8B030D-6E8A-4147-A177-3AD203B41FA5}">
                      <a16:colId xmlns:a16="http://schemas.microsoft.com/office/drawing/2014/main" val="623511514"/>
                    </a:ext>
                  </a:extLst>
                </a:gridCol>
              </a:tblGrid>
              <a:tr h="4928839">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35153940"/>
                  </a:ext>
                </a:extLst>
              </a:tr>
            </a:tbl>
          </a:graphicData>
        </a:graphic>
      </p:graphicFrame>
      <p:graphicFrame>
        <p:nvGraphicFramePr>
          <p:cNvPr id="18" name="Table 17">
            <a:extLst>
              <a:ext uri="{FF2B5EF4-FFF2-40B4-BE49-F238E27FC236}">
                <a16:creationId xmlns:a16="http://schemas.microsoft.com/office/drawing/2014/main" id="{C85695A0-5F90-A243-38EB-31BC7A5A6A8B}"/>
              </a:ext>
            </a:extLst>
          </p:cNvPr>
          <p:cNvGraphicFramePr>
            <a:graphicFrameLocks noGrp="1"/>
          </p:cNvGraphicFramePr>
          <p:nvPr>
            <p:extLst>
              <p:ext uri="{D42A27DB-BD31-4B8C-83A1-F6EECF244321}">
                <p14:modId xmlns:p14="http://schemas.microsoft.com/office/powerpoint/2010/main" val="1310210700"/>
              </p:ext>
            </p:extLst>
          </p:nvPr>
        </p:nvGraphicFramePr>
        <p:xfrm>
          <a:off x="8013315" y="1962615"/>
          <a:ext cx="5776332" cy="4928839"/>
        </p:xfrm>
        <a:graphic>
          <a:graphicData uri="http://schemas.openxmlformats.org/drawingml/2006/table">
            <a:tbl>
              <a:tblPr/>
              <a:tblGrid>
                <a:gridCol w="5776332">
                  <a:extLst>
                    <a:ext uri="{9D8B030D-6E8A-4147-A177-3AD203B41FA5}">
                      <a16:colId xmlns:a16="http://schemas.microsoft.com/office/drawing/2014/main" val="723481840"/>
                    </a:ext>
                  </a:extLst>
                </a:gridCol>
              </a:tblGrid>
              <a:tr h="4928839">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9067677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76989" y="572670"/>
            <a:ext cx="3755231" cy="469344"/>
          </a:xfrm>
          <a:prstGeom prst="rect">
            <a:avLst/>
          </a:prstGeom>
          <a:noFill/>
          <a:ln/>
        </p:spPr>
        <p:txBody>
          <a:bodyPr wrap="none" lIns="0" tIns="0" rIns="0" bIns="0" rtlCol="0" anchor="t"/>
          <a:lstStyle/>
          <a:p>
            <a:pPr marL="0" indent="0" algn="l">
              <a:lnSpc>
                <a:spcPts val="36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LITERATURE OVERVIEW</a:t>
            </a:r>
            <a:endParaRPr lang="en-US" sz="2800" b="1" dirty="0">
              <a:latin typeface="Times New Roman" panose="02020603050405020304" pitchFamily="18" charset="0"/>
              <a:cs typeface="Times New Roman" panose="02020603050405020304" pitchFamily="18" charset="0"/>
            </a:endParaRPr>
          </a:p>
        </p:txBody>
      </p:sp>
      <p:sp>
        <p:nvSpPr>
          <p:cNvPr id="4" name="Text 1"/>
          <p:cNvSpPr/>
          <p:nvPr/>
        </p:nvSpPr>
        <p:spPr>
          <a:xfrm>
            <a:off x="676989" y="1158310"/>
            <a:ext cx="8695611" cy="826320"/>
          </a:xfrm>
          <a:prstGeom prst="rect">
            <a:avLst/>
          </a:prstGeom>
          <a:noFill/>
          <a:ln/>
        </p:spPr>
        <p:txBody>
          <a:bodyPr wrap="none" lIns="0" tIns="0" rIns="0" bIns="0" rtlCol="0" anchor="t"/>
          <a:lstStyle/>
          <a:p>
            <a:pPr marL="0" indent="0" algn="just">
              <a:buNone/>
            </a:pPr>
            <a:r>
              <a:rPr lang="en-US" dirty="0">
                <a:latin typeface="Times New Roman" panose="02020603050405020304" pitchFamily="18" charset="0"/>
                <a:ea typeface="Source Sans 3" pitchFamily="34" charset="-122"/>
                <a:cs typeface="Times New Roman" panose="02020603050405020304" pitchFamily="18" charset="0"/>
              </a:rPr>
              <a:t>Significant advancements in AI/ML-based anomaly detection have shaped the field. </a:t>
            </a:r>
          </a:p>
          <a:p>
            <a:pPr marL="0" indent="0" algn="just">
              <a:buNone/>
            </a:pPr>
            <a:r>
              <a:rPr lang="en-US" dirty="0">
                <a:latin typeface="Times New Roman" panose="02020603050405020304" pitchFamily="18" charset="0"/>
                <a:ea typeface="Source Sans 3" pitchFamily="34" charset="-122"/>
                <a:cs typeface="Times New Roman" panose="02020603050405020304" pitchFamily="18" charset="0"/>
              </a:rPr>
              <a:t>Key findings from recent research include:</a:t>
            </a:r>
            <a:endParaRPr lang="en-US" dirty="0">
              <a:latin typeface="Times New Roman" panose="02020603050405020304" pitchFamily="18" charset="0"/>
              <a:cs typeface="Times New Roman" panose="02020603050405020304" pitchFamily="18" charset="0"/>
            </a:endParaRPr>
          </a:p>
        </p:txBody>
      </p:sp>
      <p:sp>
        <p:nvSpPr>
          <p:cNvPr id="6" name="Shape 3"/>
          <p:cNvSpPr/>
          <p:nvPr/>
        </p:nvSpPr>
        <p:spPr>
          <a:xfrm flipH="1">
            <a:off x="555069" y="2020827"/>
            <a:ext cx="60960" cy="1136583"/>
          </a:xfrm>
          <a:prstGeom prst="roundRect">
            <a:avLst>
              <a:gd name="adj" fmla="val 36962"/>
            </a:avLst>
          </a:prstGeom>
          <a:solidFill>
            <a:srgbClr val="325F7B"/>
          </a:solidFill>
          <a:ln/>
        </p:spPr>
      </p:sp>
      <p:sp>
        <p:nvSpPr>
          <p:cNvPr id="7" name="Text 4"/>
          <p:cNvSpPr/>
          <p:nvPr/>
        </p:nvSpPr>
        <p:spPr>
          <a:xfrm>
            <a:off x="842367" y="2186205"/>
            <a:ext cx="4738568" cy="234672"/>
          </a:xfrm>
          <a:prstGeom prst="rect">
            <a:avLst/>
          </a:prstGeom>
          <a:noFill/>
          <a:ln/>
        </p:spPr>
        <p:txBody>
          <a:bodyPr wrap="none" lIns="0" tIns="0" rIns="0" bIns="0" rtlCol="0" anchor="t"/>
          <a:lstStyle/>
          <a:p>
            <a:pPr marL="0" indent="0" algn="l">
              <a:lnSpc>
                <a:spcPts val="1800"/>
              </a:lnSpc>
              <a:buNone/>
            </a:pPr>
            <a:r>
              <a:rPr lang="en-US" b="1" dirty="0">
                <a:latin typeface="Times New Roman" panose="02020603050405020304" pitchFamily="18" charset="0"/>
                <a:ea typeface="MuseoModerno Medium" pitchFamily="34" charset="-122"/>
                <a:cs typeface="Times New Roman" panose="02020603050405020304" pitchFamily="18" charset="0"/>
              </a:rPr>
              <a:t>Hybrid Deep Learning (Almuhanna &amp; Dardouri, 2025)</a:t>
            </a:r>
            <a:endParaRPr lang="en-US" b="1" dirty="0">
              <a:latin typeface="Times New Roman" panose="02020603050405020304" pitchFamily="18" charset="0"/>
              <a:cs typeface="Times New Roman" panose="02020603050405020304" pitchFamily="18" charset="0"/>
            </a:endParaRPr>
          </a:p>
        </p:txBody>
      </p:sp>
      <p:sp>
        <p:nvSpPr>
          <p:cNvPr id="8" name="Text 5"/>
          <p:cNvSpPr/>
          <p:nvPr/>
        </p:nvSpPr>
        <p:spPr>
          <a:xfrm>
            <a:off x="842367" y="2488981"/>
            <a:ext cx="7565946" cy="211098"/>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Autoencoders, graph neural networks, and ensemble learning </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combined for improved detection performance</a:t>
            </a:r>
            <a:r>
              <a:rPr lang="en-US" sz="1150" dirty="0">
                <a:solidFill>
                  <a:srgbClr val="2B4150"/>
                </a:solidFill>
                <a:latin typeface="Source Sans 3" pitchFamily="34" charset="0"/>
                <a:ea typeface="Source Sans 3" pitchFamily="34" charset="-122"/>
                <a:cs typeface="Source Sans 3" pitchFamily="34" charset="-120"/>
              </a:rPr>
              <a:t>.</a:t>
            </a:r>
            <a:endParaRPr lang="en-US" sz="1150" dirty="0"/>
          </a:p>
        </p:txBody>
      </p:sp>
      <p:sp>
        <p:nvSpPr>
          <p:cNvPr id="11" name="Text 8"/>
          <p:cNvSpPr/>
          <p:nvPr/>
        </p:nvSpPr>
        <p:spPr>
          <a:xfrm>
            <a:off x="842367" y="3588865"/>
            <a:ext cx="2993112" cy="234672"/>
          </a:xfrm>
          <a:prstGeom prst="rect">
            <a:avLst/>
          </a:prstGeom>
          <a:noFill/>
          <a:ln/>
        </p:spPr>
        <p:txBody>
          <a:bodyPr wrap="none" lIns="0" tIns="0" rIns="0" bIns="0" rtlCol="0" anchor="t"/>
          <a:lstStyle/>
          <a:p>
            <a:pPr marL="0" indent="0" algn="l">
              <a:lnSpc>
                <a:spcPts val="1800"/>
              </a:lnSpc>
              <a:buNone/>
            </a:pPr>
            <a:r>
              <a:rPr lang="en-US" b="1" dirty="0">
                <a:latin typeface="Times New Roman" panose="02020603050405020304" pitchFamily="18" charset="0"/>
                <a:ea typeface="MuseoModerno Medium" pitchFamily="34" charset="-122"/>
                <a:cs typeface="Times New Roman" panose="02020603050405020304" pitchFamily="18" charset="0"/>
              </a:rPr>
              <a:t>Encrypted Traffic Detection (2025)</a:t>
            </a:r>
            <a:endParaRPr lang="en-US" b="1" dirty="0">
              <a:latin typeface="Times New Roman" panose="02020603050405020304" pitchFamily="18" charset="0"/>
              <a:cs typeface="Times New Roman" panose="02020603050405020304" pitchFamily="18" charset="0"/>
            </a:endParaRPr>
          </a:p>
        </p:txBody>
      </p:sp>
      <p:sp>
        <p:nvSpPr>
          <p:cNvPr id="12" name="Text 9"/>
          <p:cNvSpPr/>
          <p:nvPr/>
        </p:nvSpPr>
        <p:spPr>
          <a:xfrm>
            <a:off x="842367" y="3930261"/>
            <a:ext cx="7565946" cy="422196"/>
          </a:xfrm>
          <a:prstGeom prst="rect">
            <a:avLst/>
          </a:prstGeom>
          <a:noFill/>
          <a:ln/>
        </p:spPr>
        <p:txBody>
          <a:bodyPr wrap="square" lIns="0" tIns="0" rIns="0" bIns="0" rtlCol="0" anchor="t"/>
          <a:lstStyle/>
          <a:p>
            <a:pPr marL="0" indent="0" algn="l">
              <a:lnSpc>
                <a:spcPts val="1650"/>
              </a:lnSpc>
              <a:buNone/>
            </a:pPr>
            <a:r>
              <a:rPr lang="en-US" dirty="0">
                <a:latin typeface="Times New Roman" panose="02020603050405020304" pitchFamily="18" charset="0"/>
                <a:ea typeface="Source Sans 3" pitchFamily="34" charset="-122"/>
                <a:cs typeface="Times New Roman" panose="02020603050405020304" pitchFamily="18" charset="0"/>
              </a:rPr>
              <a:t>Self-supervised learning identifies hidden patterns without labeled datasets, improving detection in secure environments.</a:t>
            </a:r>
            <a:endParaRPr lang="en-US" dirty="0">
              <a:latin typeface="Times New Roman" panose="02020603050405020304" pitchFamily="18" charset="0"/>
              <a:cs typeface="Times New Roman" panose="02020603050405020304" pitchFamily="18" charset="0"/>
            </a:endParaRPr>
          </a:p>
        </p:txBody>
      </p:sp>
      <p:sp>
        <p:nvSpPr>
          <p:cNvPr id="15" name="Text 12"/>
          <p:cNvSpPr/>
          <p:nvPr/>
        </p:nvSpPr>
        <p:spPr>
          <a:xfrm>
            <a:off x="842367" y="6523242"/>
            <a:ext cx="4519374" cy="234672"/>
          </a:xfrm>
          <a:prstGeom prst="rect">
            <a:avLst/>
          </a:prstGeom>
          <a:noFill/>
          <a:ln/>
        </p:spPr>
        <p:txBody>
          <a:bodyPr wrap="none" lIns="0" tIns="0" rIns="0" bIns="0" rtlCol="0" anchor="t"/>
          <a:lstStyle/>
          <a:p>
            <a:pPr marL="0" indent="0" algn="l">
              <a:lnSpc>
                <a:spcPts val="1800"/>
              </a:lnSpc>
              <a:buNone/>
            </a:pPr>
            <a:r>
              <a:rPr lang="en-US" b="1" dirty="0">
                <a:latin typeface="Times New Roman" panose="02020603050405020304" pitchFamily="18" charset="0"/>
                <a:ea typeface="MuseoModerno Medium" pitchFamily="34" charset="-122"/>
                <a:cs typeface="Times New Roman" panose="02020603050405020304" pitchFamily="18" charset="0"/>
              </a:rPr>
              <a:t>LSTM &amp; Transformer Logs (Chourasiya et al., 2025</a:t>
            </a:r>
            <a:r>
              <a:rPr lang="en-US" dirty="0">
                <a:latin typeface="Times New Roman" panose="02020603050405020304" pitchFamily="18" charset="0"/>
                <a:ea typeface="MuseoModerno Medium"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3"/>
          <p:cNvSpPr/>
          <p:nvPr/>
        </p:nvSpPr>
        <p:spPr>
          <a:xfrm>
            <a:off x="836726" y="6863463"/>
            <a:ext cx="7565946" cy="211098"/>
          </a:xfrm>
          <a:prstGeom prst="rect">
            <a:avLst/>
          </a:prstGeom>
          <a:noFill/>
          <a:ln/>
        </p:spPr>
        <p:txBody>
          <a:bodyPr wrap="none" lIns="0" tIns="0" rIns="0" bIns="0" rtlCol="0" anchor="t"/>
          <a:lstStyle/>
          <a:p>
            <a:pPr marL="0" indent="0" algn="l">
              <a:lnSpc>
                <a:spcPts val="1650"/>
              </a:lnSpc>
              <a:buNone/>
            </a:pPr>
            <a:r>
              <a:rPr lang="en-US" dirty="0">
                <a:latin typeface="Times New Roman" panose="02020603050405020304" pitchFamily="18" charset="0"/>
                <a:ea typeface="Source Sans 3" pitchFamily="34" charset="-122"/>
                <a:cs typeface="Times New Roman" panose="02020603050405020304" pitchFamily="18" charset="0"/>
              </a:rPr>
              <a:t>Log-based anomaly detection for cyber forensics high accuracy but requires</a:t>
            </a:r>
          </a:p>
          <a:p>
            <a:pPr marL="0" indent="0" algn="l">
              <a:lnSpc>
                <a:spcPts val="1650"/>
              </a:lnSpc>
              <a:buNone/>
            </a:pPr>
            <a:r>
              <a:rPr lang="en-US" dirty="0">
                <a:latin typeface="Times New Roman" panose="02020603050405020304" pitchFamily="18" charset="0"/>
                <a:ea typeface="Source Sans 3" pitchFamily="34" charset="-122"/>
                <a:cs typeface="Times New Roman" panose="02020603050405020304" pitchFamily="18" charset="0"/>
              </a:rPr>
              <a:t> large datasets and compute resources</a:t>
            </a:r>
            <a:r>
              <a:rPr lang="en-US" sz="1150" dirty="0">
                <a:solidFill>
                  <a:srgbClr val="2B4150"/>
                </a:solidFill>
                <a:latin typeface="Source Sans 3" pitchFamily="34" charset="0"/>
                <a:ea typeface="Source Sans 3" pitchFamily="34" charset="-122"/>
                <a:cs typeface="Source Sans 3" pitchFamily="34" charset="-120"/>
              </a:rPr>
              <a:t>.</a:t>
            </a:r>
            <a:endParaRPr lang="en-US" sz="1150" dirty="0"/>
          </a:p>
        </p:txBody>
      </p:sp>
      <p:sp>
        <p:nvSpPr>
          <p:cNvPr id="18" name="Shape 15"/>
          <p:cNvSpPr/>
          <p:nvPr/>
        </p:nvSpPr>
        <p:spPr>
          <a:xfrm>
            <a:off x="549433" y="6363580"/>
            <a:ext cx="60960" cy="1108460"/>
          </a:xfrm>
          <a:prstGeom prst="roundRect">
            <a:avLst>
              <a:gd name="adj" fmla="val 36962"/>
            </a:avLst>
          </a:prstGeom>
          <a:solidFill>
            <a:srgbClr val="325F7B"/>
          </a:solidFill>
          <a:ln/>
        </p:spPr>
      </p:sp>
      <p:sp>
        <p:nvSpPr>
          <p:cNvPr id="19" name="Text 16"/>
          <p:cNvSpPr/>
          <p:nvPr/>
        </p:nvSpPr>
        <p:spPr>
          <a:xfrm>
            <a:off x="836726" y="5054490"/>
            <a:ext cx="3877747" cy="234672"/>
          </a:xfrm>
          <a:prstGeom prst="rect">
            <a:avLst/>
          </a:prstGeom>
          <a:noFill/>
          <a:ln/>
        </p:spPr>
        <p:txBody>
          <a:bodyPr wrap="none" lIns="0" tIns="0" rIns="0" bIns="0" rtlCol="0" anchor="t"/>
          <a:lstStyle/>
          <a:p>
            <a:pPr marL="0" indent="0" algn="l">
              <a:lnSpc>
                <a:spcPts val="1800"/>
              </a:lnSpc>
              <a:buNone/>
            </a:pPr>
            <a:r>
              <a:rPr lang="en-US" b="1" dirty="0">
                <a:latin typeface="Times New Roman" panose="02020603050405020304" pitchFamily="18" charset="0"/>
                <a:ea typeface="MuseoModerno Medium" pitchFamily="34" charset="-122"/>
                <a:cs typeface="Times New Roman" panose="02020603050405020304" pitchFamily="18" charset="0"/>
              </a:rPr>
              <a:t>Blockchain + Deep Neural Networks (2025)</a:t>
            </a:r>
            <a:endParaRPr lang="en-US" b="1" dirty="0">
              <a:latin typeface="Times New Roman" panose="02020603050405020304" pitchFamily="18" charset="0"/>
              <a:cs typeface="Times New Roman" panose="02020603050405020304" pitchFamily="18" charset="0"/>
            </a:endParaRPr>
          </a:p>
        </p:txBody>
      </p:sp>
      <p:sp>
        <p:nvSpPr>
          <p:cNvPr id="20" name="Text 17"/>
          <p:cNvSpPr/>
          <p:nvPr/>
        </p:nvSpPr>
        <p:spPr>
          <a:xfrm>
            <a:off x="836726" y="5414782"/>
            <a:ext cx="7565946" cy="211098"/>
          </a:xfrm>
          <a:prstGeom prst="rect">
            <a:avLst/>
          </a:prstGeom>
          <a:noFill/>
          <a:ln/>
        </p:spPr>
        <p:txBody>
          <a:bodyPr wrap="none" lIns="0" tIns="0" rIns="0" bIns="0" rtlCol="0" anchor="t"/>
          <a:lstStyle/>
          <a:p>
            <a:pPr marL="0" indent="0">
              <a:lnSpc>
                <a:spcPts val="1650"/>
              </a:lnSpc>
              <a:buNone/>
            </a:pPr>
            <a:r>
              <a:rPr lang="en-US" dirty="0">
                <a:latin typeface="Times New Roman" panose="02020603050405020304" pitchFamily="18" charset="0"/>
                <a:ea typeface="Source Sans 3" pitchFamily="34" charset="-122"/>
                <a:cs typeface="Times New Roman" panose="02020603050405020304" pitchFamily="18" charset="0"/>
              </a:rPr>
              <a:t>IoT security enhanced via blockchain integration .it improves</a:t>
            </a:r>
          </a:p>
          <a:p>
            <a:pPr marL="0" indent="0">
              <a:lnSpc>
                <a:spcPts val="1650"/>
              </a:lnSpc>
              <a:buNone/>
            </a:pPr>
            <a:r>
              <a:rPr lang="en-US" dirty="0">
                <a:latin typeface="Times New Roman" panose="02020603050405020304" pitchFamily="18" charset="0"/>
                <a:ea typeface="Source Sans 3" pitchFamily="34" charset="-122"/>
                <a:cs typeface="Times New Roman" panose="02020603050405020304" pitchFamily="18" charset="0"/>
              </a:rPr>
              <a:t> data integrity but adds system complexity</a:t>
            </a:r>
            <a:r>
              <a:rPr lang="en-US" sz="1150" dirty="0">
                <a:solidFill>
                  <a:srgbClr val="2B4150"/>
                </a:solidFill>
                <a:latin typeface="Source Sans 3" pitchFamily="34" charset="0"/>
                <a:ea typeface="Source Sans 3" pitchFamily="34" charset="-122"/>
                <a:cs typeface="Source Sans 3" pitchFamily="34" charset="-120"/>
              </a:rPr>
              <a:t>.</a:t>
            </a:r>
            <a:endParaRPr lang="en-US" sz="1150" dirty="0"/>
          </a:p>
        </p:txBody>
      </p:sp>
      <p:graphicFrame>
        <p:nvGraphicFramePr>
          <p:cNvPr id="25" name="Table 24">
            <a:extLst>
              <a:ext uri="{FF2B5EF4-FFF2-40B4-BE49-F238E27FC236}">
                <a16:creationId xmlns:a16="http://schemas.microsoft.com/office/drawing/2014/main" id="{5A823352-A0E6-0C23-9961-2C8C3D89228A}"/>
              </a:ext>
            </a:extLst>
          </p:cNvPr>
          <p:cNvGraphicFramePr>
            <a:graphicFrameLocks noGrp="1"/>
          </p:cNvGraphicFramePr>
          <p:nvPr>
            <p:extLst>
              <p:ext uri="{D42A27DB-BD31-4B8C-83A1-F6EECF244321}">
                <p14:modId xmlns:p14="http://schemas.microsoft.com/office/powerpoint/2010/main" val="309464100"/>
              </p:ext>
            </p:extLst>
          </p:nvPr>
        </p:nvGraphicFramePr>
        <p:xfrm>
          <a:off x="555069" y="2041583"/>
          <a:ext cx="8318809" cy="1115122"/>
        </p:xfrm>
        <a:graphic>
          <a:graphicData uri="http://schemas.openxmlformats.org/drawingml/2006/table">
            <a:tbl>
              <a:tblPr/>
              <a:tblGrid>
                <a:gridCol w="8318809">
                  <a:extLst>
                    <a:ext uri="{9D8B030D-6E8A-4147-A177-3AD203B41FA5}">
                      <a16:colId xmlns:a16="http://schemas.microsoft.com/office/drawing/2014/main" val="1741547682"/>
                    </a:ext>
                  </a:extLst>
                </a:gridCol>
              </a:tblGrid>
              <a:tr h="1115122">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6318258"/>
                  </a:ext>
                </a:extLst>
              </a:tr>
            </a:tbl>
          </a:graphicData>
        </a:graphic>
      </p:graphicFrame>
      <p:sp>
        <p:nvSpPr>
          <p:cNvPr id="28" name="TextBox 27">
            <a:extLst>
              <a:ext uri="{FF2B5EF4-FFF2-40B4-BE49-F238E27FC236}">
                <a16:creationId xmlns:a16="http://schemas.microsoft.com/office/drawing/2014/main" id="{0B7774CE-E8DB-7E36-F091-77DB5A4FD7EB}"/>
              </a:ext>
            </a:extLst>
          </p:cNvPr>
          <p:cNvSpPr txBox="1"/>
          <p:nvPr/>
        </p:nvSpPr>
        <p:spPr>
          <a:xfrm>
            <a:off x="4750713" y="4103782"/>
            <a:ext cx="7315200" cy="369332"/>
          </a:xfrm>
          <a:prstGeom prst="rect">
            <a:avLst/>
          </a:prstGeom>
          <a:noFill/>
        </p:spPr>
        <p:txBody>
          <a:bodyPr wrap="square">
            <a:spAutoFit/>
          </a:bodyPr>
          <a:lstStyle/>
          <a:p>
            <a:endParaRPr lang="en-IN" dirty="0"/>
          </a:p>
        </p:txBody>
      </p:sp>
      <p:graphicFrame>
        <p:nvGraphicFramePr>
          <p:cNvPr id="29" name="Table 28">
            <a:extLst>
              <a:ext uri="{FF2B5EF4-FFF2-40B4-BE49-F238E27FC236}">
                <a16:creationId xmlns:a16="http://schemas.microsoft.com/office/drawing/2014/main" id="{42EB23E7-FB04-36F6-1395-FAE6209A6EC7}"/>
              </a:ext>
            </a:extLst>
          </p:cNvPr>
          <p:cNvGraphicFramePr>
            <a:graphicFrameLocks noGrp="1"/>
          </p:cNvGraphicFramePr>
          <p:nvPr>
            <p:extLst>
              <p:ext uri="{D42A27DB-BD31-4B8C-83A1-F6EECF244321}">
                <p14:modId xmlns:p14="http://schemas.microsoft.com/office/powerpoint/2010/main" val="540134722"/>
              </p:ext>
            </p:extLst>
          </p:nvPr>
        </p:nvGraphicFramePr>
        <p:xfrm>
          <a:off x="616029" y="3466638"/>
          <a:ext cx="8318809" cy="1108460"/>
        </p:xfrm>
        <a:graphic>
          <a:graphicData uri="http://schemas.openxmlformats.org/drawingml/2006/table">
            <a:tbl>
              <a:tblPr/>
              <a:tblGrid>
                <a:gridCol w="8318809">
                  <a:extLst>
                    <a:ext uri="{9D8B030D-6E8A-4147-A177-3AD203B41FA5}">
                      <a16:colId xmlns:a16="http://schemas.microsoft.com/office/drawing/2014/main" val="1741547682"/>
                    </a:ext>
                  </a:extLst>
                </a:gridCol>
              </a:tblGrid>
              <a:tr h="110846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6318258"/>
                  </a:ext>
                </a:extLst>
              </a:tr>
            </a:tbl>
          </a:graphicData>
        </a:graphic>
      </p:graphicFrame>
      <p:sp>
        <p:nvSpPr>
          <p:cNvPr id="30" name="Shape 15">
            <a:extLst>
              <a:ext uri="{FF2B5EF4-FFF2-40B4-BE49-F238E27FC236}">
                <a16:creationId xmlns:a16="http://schemas.microsoft.com/office/drawing/2014/main" id="{1C29064B-C15A-3F00-AE0D-62C659734074}"/>
              </a:ext>
            </a:extLst>
          </p:cNvPr>
          <p:cNvSpPr/>
          <p:nvPr/>
        </p:nvSpPr>
        <p:spPr>
          <a:xfrm>
            <a:off x="555069" y="3447196"/>
            <a:ext cx="60960" cy="1169750"/>
          </a:xfrm>
          <a:prstGeom prst="roundRect">
            <a:avLst>
              <a:gd name="adj" fmla="val 36962"/>
            </a:avLst>
          </a:prstGeom>
          <a:ln/>
        </p:spPr>
        <p:style>
          <a:lnRef idx="2">
            <a:schemeClr val="dk1">
              <a:shade val="15000"/>
            </a:schemeClr>
          </a:lnRef>
          <a:fillRef idx="1">
            <a:schemeClr val="dk1"/>
          </a:fillRef>
          <a:effectRef idx="0">
            <a:schemeClr val="dk1"/>
          </a:effectRef>
          <a:fontRef idx="minor">
            <a:schemeClr val="lt1"/>
          </a:fontRef>
        </p:style>
      </p:sp>
      <p:graphicFrame>
        <p:nvGraphicFramePr>
          <p:cNvPr id="31" name="Table 30">
            <a:extLst>
              <a:ext uri="{FF2B5EF4-FFF2-40B4-BE49-F238E27FC236}">
                <a16:creationId xmlns:a16="http://schemas.microsoft.com/office/drawing/2014/main" id="{60DD57D9-0A4B-9295-0D71-F4A0173F2460}"/>
              </a:ext>
            </a:extLst>
          </p:cNvPr>
          <p:cNvGraphicFramePr>
            <a:graphicFrameLocks noGrp="1"/>
          </p:cNvGraphicFramePr>
          <p:nvPr>
            <p:extLst>
              <p:ext uri="{D42A27DB-BD31-4B8C-83A1-F6EECF244321}">
                <p14:modId xmlns:p14="http://schemas.microsoft.com/office/powerpoint/2010/main" val="1811518984"/>
              </p:ext>
            </p:extLst>
          </p:nvPr>
        </p:nvGraphicFramePr>
        <p:xfrm>
          <a:off x="591308" y="4936033"/>
          <a:ext cx="8318809" cy="1108460"/>
        </p:xfrm>
        <a:graphic>
          <a:graphicData uri="http://schemas.openxmlformats.org/drawingml/2006/table">
            <a:tbl>
              <a:tblPr/>
              <a:tblGrid>
                <a:gridCol w="8318809">
                  <a:extLst>
                    <a:ext uri="{9D8B030D-6E8A-4147-A177-3AD203B41FA5}">
                      <a16:colId xmlns:a16="http://schemas.microsoft.com/office/drawing/2014/main" val="1741547682"/>
                    </a:ext>
                  </a:extLst>
                </a:gridCol>
              </a:tblGrid>
              <a:tr h="110846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6318258"/>
                  </a:ext>
                </a:extLst>
              </a:tr>
            </a:tbl>
          </a:graphicData>
        </a:graphic>
      </p:graphicFrame>
      <p:graphicFrame>
        <p:nvGraphicFramePr>
          <p:cNvPr id="32" name="Table 31">
            <a:extLst>
              <a:ext uri="{FF2B5EF4-FFF2-40B4-BE49-F238E27FC236}">
                <a16:creationId xmlns:a16="http://schemas.microsoft.com/office/drawing/2014/main" id="{48312739-68EF-CB69-6670-9AFDC3BD885F}"/>
              </a:ext>
            </a:extLst>
          </p:cNvPr>
          <p:cNvGraphicFramePr>
            <a:graphicFrameLocks noGrp="1"/>
          </p:cNvGraphicFramePr>
          <p:nvPr>
            <p:extLst>
              <p:ext uri="{D42A27DB-BD31-4B8C-83A1-F6EECF244321}">
                <p14:modId xmlns:p14="http://schemas.microsoft.com/office/powerpoint/2010/main" val="3710296128"/>
              </p:ext>
            </p:extLst>
          </p:nvPr>
        </p:nvGraphicFramePr>
        <p:xfrm>
          <a:off x="549433" y="6357809"/>
          <a:ext cx="8318809" cy="1108460"/>
        </p:xfrm>
        <a:graphic>
          <a:graphicData uri="http://schemas.openxmlformats.org/drawingml/2006/table">
            <a:tbl>
              <a:tblPr/>
              <a:tblGrid>
                <a:gridCol w="8318809">
                  <a:extLst>
                    <a:ext uri="{9D8B030D-6E8A-4147-A177-3AD203B41FA5}">
                      <a16:colId xmlns:a16="http://schemas.microsoft.com/office/drawing/2014/main" val="1741547682"/>
                    </a:ext>
                  </a:extLst>
                </a:gridCol>
              </a:tblGrid>
              <a:tr h="110846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6318258"/>
                  </a:ext>
                </a:extLst>
              </a:tr>
            </a:tbl>
          </a:graphicData>
        </a:graphic>
      </p:graphicFrame>
      <p:sp>
        <p:nvSpPr>
          <p:cNvPr id="33" name="Shape 15">
            <a:extLst>
              <a:ext uri="{FF2B5EF4-FFF2-40B4-BE49-F238E27FC236}">
                <a16:creationId xmlns:a16="http://schemas.microsoft.com/office/drawing/2014/main" id="{B9CFAA39-FF80-0224-19D6-315149050454}"/>
              </a:ext>
            </a:extLst>
          </p:cNvPr>
          <p:cNvSpPr/>
          <p:nvPr/>
        </p:nvSpPr>
        <p:spPr>
          <a:xfrm>
            <a:off x="526387" y="4936033"/>
            <a:ext cx="60960" cy="1108460"/>
          </a:xfrm>
          <a:prstGeom prst="roundRect">
            <a:avLst>
              <a:gd name="adj" fmla="val 36962"/>
            </a:avLst>
          </a:prstGeom>
          <a:ln/>
        </p:spPr>
        <p:style>
          <a:lnRef idx="2">
            <a:schemeClr val="dk1">
              <a:shade val="15000"/>
            </a:schemeClr>
          </a:lnRef>
          <a:fillRef idx="1">
            <a:schemeClr val="dk1"/>
          </a:fillRef>
          <a:effectRef idx="0">
            <a:schemeClr val="dk1"/>
          </a:effectRef>
          <a:fontRef idx="minor">
            <a:schemeClr val="lt1"/>
          </a:fontRef>
        </p:style>
      </p:sp>
      <p:sp>
        <p:nvSpPr>
          <p:cNvPr id="2" name="Shape 15">
            <a:extLst>
              <a:ext uri="{FF2B5EF4-FFF2-40B4-BE49-F238E27FC236}">
                <a16:creationId xmlns:a16="http://schemas.microsoft.com/office/drawing/2014/main" id="{E79450AE-7E68-0DB2-2B83-9E7CC4C8DC09}"/>
              </a:ext>
            </a:extLst>
          </p:cNvPr>
          <p:cNvSpPr/>
          <p:nvPr/>
        </p:nvSpPr>
        <p:spPr>
          <a:xfrm>
            <a:off x="545881" y="2025420"/>
            <a:ext cx="45719" cy="1137760"/>
          </a:xfrm>
          <a:prstGeom prst="roundRect">
            <a:avLst>
              <a:gd name="adj" fmla="val 36962"/>
            </a:avLst>
          </a:prstGeom>
          <a:ln/>
        </p:spPr>
        <p:style>
          <a:lnRef idx="2">
            <a:schemeClr val="dk1">
              <a:shade val="15000"/>
            </a:schemeClr>
          </a:lnRef>
          <a:fillRef idx="1">
            <a:schemeClr val="dk1"/>
          </a:fillRef>
          <a:effectRef idx="0">
            <a:schemeClr val="dk1"/>
          </a:effectRef>
          <a:fontRef idx="minor">
            <a:schemeClr val="lt1"/>
          </a:fontRef>
        </p:style>
      </p:sp>
      <p:sp>
        <p:nvSpPr>
          <p:cNvPr id="5" name="Shape 15">
            <a:extLst>
              <a:ext uri="{FF2B5EF4-FFF2-40B4-BE49-F238E27FC236}">
                <a16:creationId xmlns:a16="http://schemas.microsoft.com/office/drawing/2014/main" id="{9981F6EC-19FE-3D0C-4AF4-1B5A9CB80756}"/>
              </a:ext>
            </a:extLst>
          </p:cNvPr>
          <p:cNvSpPr/>
          <p:nvPr/>
        </p:nvSpPr>
        <p:spPr>
          <a:xfrm>
            <a:off x="549433" y="6363579"/>
            <a:ext cx="72482" cy="1102689"/>
          </a:xfrm>
          <a:prstGeom prst="roundRect">
            <a:avLst>
              <a:gd name="adj" fmla="val 36962"/>
            </a:avLst>
          </a:prstGeom>
          <a:ln/>
        </p:spPr>
        <p:style>
          <a:lnRef idx="2">
            <a:schemeClr val="dk1">
              <a:shade val="15000"/>
            </a:schemeClr>
          </a:lnRef>
          <a:fillRef idx="1">
            <a:schemeClr val="dk1"/>
          </a:fillRef>
          <a:effectRef idx="0">
            <a:schemeClr val="dk1"/>
          </a:effectRef>
          <a:fontRef idx="minor">
            <a:schemeClr val="lt1"/>
          </a:fontRef>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00223"/>
            <a:ext cx="4961811" cy="620078"/>
          </a:xfrm>
          <a:prstGeom prst="rect">
            <a:avLst/>
          </a:prstGeom>
          <a:noFill/>
          <a:ln/>
        </p:spPr>
        <p:txBody>
          <a:bodyPr wrap="none" lIns="0" tIns="0" rIns="0" bIns="0" rtlCol="0" anchor="t"/>
          <a:lstStyle/>
          <a:p>
            <a:pPr marL="0" indent="0" algn="l">
              <a:lnSpc>
                <a:spcPts val="4850"/>
              </a:lnSpc>
              <a:buNone/>
            </a:pPr>
            <a:r>
              <a:rPr lang="en-US" sz="2800" b="1" dirty="0">
                <a:latin typeface="Times New Roman" panose="02020603050405020304" pitchFamily="18" charset="0"/>
                <a:cs typeface="Times New Roman" panose="02020603050405020304" pitchFamily="18" charset="0"/>
              </a:rPr>
              <a:t>OBJECTIVES</a:t>
            </a:r>
          </a:p>
        </p:txBody>
      </p:sp>
      <p:sp>
        <p:nvSpPr>
          <p:cNvPr id="3" name="Text 1"/>
          <p:cNvSpPr/>
          <p:nvPr/>
        </p:nvSpPr>
        <p:spPr>
          <a:xfrm>
            <a:off x="793790" y="2692956"/>
            <a:ext cx="198358" cy="248007"/>
          </a:xfrm>
          <a:prstGeom prst="rect">
            <a:avLst/>
          </a:prstGeom>
          <a:noFill/>
          <a:ln/>
        </p:spPr>
        <p:txBody>
          <a:bodyPr wrap="none" lIns="0" tIns="0" rIns="0" bIns="0" rtlCol="0" anchor="t"/>
          <a:lstStyle/>
          <a:p>
            <a:pPr marL="0" indent="0" algn="l">
              <a:lnSpc>
                <a:spcPts val="2500"/>
              </a:lnSpc>
              <a:buNone/>
            </a:pPr>
            <a:r>
              <a:rPr lang="en-US" sz="1550" dirty="0">
                <a:latin typeface="Times New Roman" panose="02020603050405020304" pitchFamily="18" charset="0"/>
                <a:ea typeface="MuseoModerno Light" pitchFamily="34" charset="-122"/>
                <a:cs typeface="Times New Roman" panose="02020603050405020304" pitchFamily="18" charset="0"/>
              </a:rPr>
              <a:t>01</a:t>
            </a:r>
            <a:endParaRPr lang="en-US" sz="155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007281"/>
            <a:ext cx="4215289" cy="22860"/>
          </a:xfrm>
          <a:prstGeom prst="rect">
            <a:avLst/>
          </a:prstGeom>
          <a:solidFill>
            <a:srgbClr val="325F7B"/>
          </a:solidFill>
          <a:ln>
            <a:solidFill>
              <a:schemeClr val="tx1">
                <a:lumMod val="95000"/>
                <a:lumOff val="5000"/>
              </a:schemeClr>
            </a:solidFill>
          </a:ln>
        </p:spPr>
      </p:sp>
      <p:sp>
        <p:nvSpPr>
          <p:cNvPr id="5" name="Text 3"/>
          <p:cNvSpPr/>
          <p:nvPr/>
        </p:nvSpPr>
        <p:spPr>
          <a:xfrm>
            <a:off x="853381" y="3073116"/>
            <a:ext cx="3151465"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Anomaly-Based Detection</a:t>
            </a:r>
            <a:endParaRPr lang="en-US" b="1" dirty="0">
              <a:latin typeface="Times New Roman" panose="02020603050405020304" pitchFamily="18" charset="0"/>
              <a:cs typeface="Times New Roman" panose="02020603050405020304" pitchFamily="18" charset="0"/>
            </a:endParaRPr>
          </a:p>
        </p:txBody>
      </p:sp>
      <p:sp>
        <p:nvSpPr>
          <p:cNvPr id="6" name="Text 4"/>
          <p:cNvSpPr/>
          <p:nvPr/>
        </p:nvSpPr>
        <p:spPr>
          <a:xfrm>
            <a:off x="853381" y="3426249"/>
            <a:ext cx="4215289"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Analyze user and network behavior in real time to identify suspicious activities</a:t>
            </a:r>
            <a:r>
              <a:rPr lang="en-US" sz="1550" dirty="0">
                <a:solidFill>
                  <a:srgbClr val="2B4150"/>
                </a:solidFill>
                <a:latin typeface="Source Sans 3" pitchFamily="34" charset="0"/>
                <a:ea typeface="Source Sans 3" pitchFamily="34" charset="-122"/>
                <a:cs typeface="Source Sans 3" pitchFamily="34" charset="-120"/>
              </a:rPr>
              <a:t>.</a:t>
            </a:r>
            <a:endParaRPr lang="en-US" sz="1550" dirty="0"/>
          </a:p>
        </p:txBody>
      </p:sp>
      <p:sp>
        <p:nvSpPr>
          <p:cNvPr id="7" name="Text 5"/>
          <p:cNvSpPr/>
          <p:nvPr/>
        </p:nvSpPr>
        <p:spPr>
          <a:xfrm>
            <a:off x="5207437" y="2692956"/>
            <a:ext cx="198358" cy="248007"/>
          </a:xfrm>
          <a:prstGeom prst="rect">
            <a:avLst/>
          </a:prstGeom>
          <a:noFill/>
          <a:ln/>
        </p:spPr>
        <p:txBody>
          <a:bodyPr wrap="none" lIns="0" tIns="0" rIns="0" bIns="0" rtlCol="0" anchor="t"/>
          <a:lstStyle/>
          <a:p>
            <a:pPr marL="0" indent="0" algn="l">
              <a:lnSpc>
                <a:spcPts val="2500"/>
              </a:lnSpc>
              <a:buNone/>
            </a:pPr>
            <a:r>
              <a:rPr lang="en-US" sz="1550" dirty="0">
                <a:latin typeface="Times New Roman" panose="02020603050405020304" pitchFamily="18" charset="0"/>
                <a:ea typeface="MuseoModerno Light" pitchFamily="34" charset="-122"/>
                <a:cs typeface="Times New Roman" panose="02020603050405020304" pitchFamily="18" charset="0"/>
              </a:rPr>
              <a:t>02</a:t>
            </a:r>
            <a:endParaRPr lang="en-US" sz="1550" dirty="0">
              <a:latin typeface="Times New Roman" panose="02020603050405020304" pitchFamily="18" charset="0"/>
              <a:cs typeface="Times New Roman" panose="02020603050405020304" pitchFamily="18" charset="0"/>
            </a:endParaRPr>
          </a:p>
        </p:txBody>
      </p:sp>
      <p:sp>
        <p:nvSpPr>
          <p:cNvPr id="8" name="Shape 6"/>
          <p:cNvSpPr/>
          <p:nvPr/>
        </p:nvSpPr>
        <p:spPr>
          <a:xfrm>
            <a:off x="5207437" y="3007281"/>
            <a:ext cx="4215408" cy="22860"/>
          </a:xfrm>
          <a:prstGeom prst="rect">
            <a:avLst/>
          </a:prstGeom>
          <a:solidFill>
            <a:srgbClr val="325F7B"/>
          </a:solidFill>
          <a:ln>
            <a:solidFill>
              <a:schemeClr val="tx1">
                <a:lumMod val="95000"/>
                <a:lumOff val="5000"/>
              </a:schemeClr>
            </a:solidFill>
          </a:ln>
        </p:spPr>
      </p:sp>
      <p:sp>
        <p:nvSpPr>
          <p:cNvPr id="9" name="Text 7"/>
          <p:cNvSpPr/>
          <p:nvPr/>
        </p:nvSpPr>
        <p:spPr>
          <a:xfrm>
            <a:off x="5207437" y="3073116"/>
            <a:ext cx="2564963"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Dynamic Risk Scoring</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5207437" y="3394352"/>
            <a:ext cx="4215408" cy="635079"/>
          </a:xfrm>
          <a:prstGeom prst="rect">
            <a:avLst/>
          </a:prstGeom>
          <a:noFill/>
          <a:ln/>
        </p:spPr>
        <p:txBody>
          <a:bodyPr wrap="square" lIns="0" tIns="0" rIns="0" bIns="0" rtlCol="0" anchor="t"/>
          <a:lstStyle/>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Classify each activity as low, medium, or high risk on a 0–100 scale for efficient threat prioritization.</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9621203" y="2692956"/>
            <a:ext cx="198358" cy="248007"/>
          </a:xfrm>
          <a:prstGeom prst="rect">
            <a:avLst/>
          </a:prstGeom>
          <a:noFill/>
          <a:ln/>
        </p:spPr>
        <p:txBody>
          <a:bodyPr wrap="none" lIns="0" tIns="0" rIns="0" bIns="0" rtlCol="0" anchor="t"/>
          <a:lstStyle/>
          <a:p>
            <a:pPr marL="0" indent="0" algn="l">
              <a:lnSpc>
                <a:spcPts val="2500"/>
              </a:lnSpc>
              <a:buNone/>
            </a:pPr>
            <a:r>
              <a:rPr lang="en-US" sz="1550" dirty="0">
                <a:latin typeface="MuseoModerno Light" pitchFamily="34" charset="0"/>
                <a:ea typeface="MuseoModerno Light" pitchFamily="34" charset="-122"/>
                <a:cs typeface="MuseoModerno Light" pitchFamily="34" charset="-120"/>
              </a:rPr>
              <a:t>03</a:t>
            </a:r>
            <a:endParaRPr lang="en-US" sz="1550" dirty="0"/>
          </a:p>
        </p:txBody>
      </p:sp>
      <p:sp>
        <p:nvSpPr>
          <p:cNvPr id="12" name="Shape 10"/>
          <p:cNvSpPr/>
          <p:nvPr/>
        </p:nvSpPr>
        <p:spPr>
          <a:xfrm>
            <a:off x="9621203" y="3007281"/>
            <a:ext cx="4215289" cy="22860"/>
          </a:xfrm>
          <a:prstGeom prst="rect">
            <a:avLst/>
          </a:prstGeom>
          <a:solidFill>
            <a:srgbClr val="325F7B"/>
          </a:solidFill>
          <a:ln>
            <a:solidFill>
              <a:schemeClr val="tx1">
                <a:lumMod val="95000"/>
                <a:lumOff val="5000"/>
              </a:schemeClr>
            </a:solidFill>
          </a:ln>
        </p:spPr>
      </p:sp>
      <p:sp>
        <p:nvSpPr>
          <p:cNvPr id="13" name="Text 11"/>
          <p:cNvSpPr/>
          <p:nvPr/>
        </p:nvSpPr>
        <p:spPr>
          <a:xfrm>
            <a:off x="9723727" y="3095566"/>
            <a:ext cx="2520077"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Secure Audit Logging</a:t>
            </a:r>
            <a:endParaRPr lang="en-US" b="1" dirty="0">
              <a:latin typeface="Times New Roman" panose="02020603050405020304" pitchFamily="18" charset="0"/>
              <a:cs typeface="Times New Roman" panose="02020603050405020304" pitchFamily="18" charset="0"/>
            </a:endParaRPr>
          </a:p>
        </p:txBody>
      </p:sp>
      <p:sp>
        <p:nvSpPr>
          <p:cNvPr id="14" name="Text 12"/>
          <p:cNvSpPr/>
          <p:nvPr/>
        </p:nvSpPr>
        <p:spPr>
          <a:xfrm>
            <a:off x="9720382" y="3405724"/>
            <a:ext cx="4215289" cy="95261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Record all events in a tamper-resistant, structured format supporting transparency and forensic investigation</a:t>
            </a:r>
            <a:r>
              <a:rPr lang="en-US" sz="1550" dirty="0">
                <a:solidFill>
                  <a:srgbClr val="2B4150"/>
                </a:solidFill>
                <a:latin typeface="Source Sans 3" pitchFamily="34" charset="0"/>
                <a:ea typeface="Source Sans 3" pitchFamily="34" charset="-122"/>
                <a:cs typeface="Source Sans 3" pitchFamily="34" charset="-120"/>
              </a:rPr>
              <a:t>.</a:t>
            </a:r>
            <a:endParaRPr lang="en-US" sz="1550" dirty="0"/>
          </a:p>
        </p:txBody>
      </p:sp>
      <p:sp>
        <p:nvSpPr>
          <p:cNvPr id="15" name="Text 13"/>
          <p:cNvSpPr/>
          <p:nvPr/>
        </p:nvSpPr>
        <p:spPr>
          <a:xfrm>
            <a:off x="793790" y="4881205"/>
            <a:ext cx="198358" cy="248007"/>
          </a:xfrm>
          <a:prstGeom prst="rect">
            <a:avLst/>
          </a:prstGeom>
          <a:noFill/>
          <a:ln/>
        </p:spPr>
        <p:txBody>
          <a:bodyPr wrap="none" lIns="0" tIns="0" rIns="0" bIns="0" rtlCol="0" anchor="t"/>
          <a:lstStyle/>
          <a:p>
            <a:pPr marL="0" indent="0" algn="l">
              <a:lnSpc>
                <a:spcPts val="2500"/>
              </a:lnSpc>
              <a:buNone/>
            </a:pPr>
            <a:r>
              <a:rPr lang="en-US" sz="1550" dirty="0">
                <a:latin typeface="MuseoModerno Light" pitchFamily="34" charset="0"/>
                <a:ea typeface="MuseoModerno Light" pitchFamily="34" charset="-122"/>
                <a:cs typeface="MuseoModerno Light" pitchFamily="34" charset="-120"/>
              </a:rPr>
              <a:t>04</a:t>
            </a:r>
            <a:endParaRPr lang="en-US" sz="1550" dirty="0"/>
          </a:p>
        </p:txBody>
      </p:sp>
      <p:sp>
        <p:nvSpPr>
          <p:cNvPr id="16" name="Shape 14"/>
          <p:cNvSpPr/>
          <p:nvPr/>
        </p:nvSpPr>
        <p:spPr>
          <a:xfrm>
            <a:off x="793790" y="5195530"/>
            <a:ext cx="6422112" cy="22860"/>
          </a:xfrm>
          <a:prstGeom prst="rect">
            <a:avLst/>
          </a:prstGeom>
          <a:solidFill>
            <a:srgbClr val="325F7B"/>
          </a:solidFill>
          <a:ln>
            <a:solidFill>
              <a:schemeClr val="tx1">
                <a:lumMod val="95000"/>
                <a:lumOff val="5000"/>
              </a:schemeClr>
            </a:solidFill>
          </a:ln>
        </p:spPr>
      </p:sp>
      <p:sp>
        <p:nvSpPr>
          <p:cNvPr id="17" name="Text 15"/>
          <p:cNvSpPr/>
          <p:nvPr/>
        </p:nvSpPr>
        <p:spPr>
          <a:xfrm>
            <a:off x="793790" y="5340429"/>
            <a:ext cx="2704267"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Interactive Dashboard</a:t>
            </a:r>
            <a:endParaRPr lang="en-US" b="1" dirty="0">
              <a:latin typeface="Times New Roman" panose="02020603050405020304" pitchFamily="18" charset="0"/>
              <a:cs typeface="Times New Roman" panose="02020603050405020304" pitchFamily="18" charset="0"/>
            </a:endParaRPr>
          </a:p>
        </p:txBody>
      </p:sp>
      <p:sp>
        <p:nvSpPr>
          <p:cNvPr id="18" name="Text 16"/>
          <p:cNvSpPr/>
          <p:nvPr/>
        </p:nvSpPr>
        <p:spPr>
          <a:xfrm>
            <a:off x="793790" y="5712713"/>
            <a:ext cx="6422112"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Provide real-time monitoring and visualization to improve situational awareness for administrators.</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7414260" y="4881205"/>
            <a:ext cx="198358" cy="248007"/>
          </a:xfrm>
          <a:prstGeom prst="rect">
            <a:avLst/>
          </a:prstGeom>
          <a:noFill/>
          <a:ln/>
        </p:spPr>
        <p:txBody>
          <a:bodyPr wrap="none" lIns="0" tIns="0" rIns="0" bIns="0" rtlCol="0" anchor="t"/>
          <a:lstStyle/>
          <a:p>
            <a:pPr marL="0" indent="0" algn="l">
              <a:lnSpc>
                <a:spcPts val="2500"/>
              </a:lnSpc>
              <a:buNone/>
            </a:pPr>
            <a:r>
              <a:rPr lang="en-US" sz="1550" dirty="0">
                <a:latin typeface="MuseoModerno Light" pitchFamily="34" charset="0"/>
                <a:ea typeface="MuseoModerno Light" pitchFamily="34" charset="-122"/>
                <a:cs typeface="MuseoModerno Light" pitchFamily="34" charset="-120"/>
              </a:rPr>
              <a:t>05</a:t>
            </a:r>
            <a:endParaRPr lang="en-US" sz="1550" dirty="0"/>
          </a:p>
        </p:txBody>
      </p:sp>
      <p:sp>
        <p:nvSpPr>
          <p:cNvPr id="20" name="Shape 18"/>
          <p:cNvSpPr/>
          <p:nvPr/>
        </p:nvSpPr>
        <p:spPr>
          <a:xfrm>
            <a:off x="7414260" y="5195530"/>
            <a:ext cx="6422231" cy="22860"/>
          </a:xfrm>
          <a:prstGeom prst="rect">
            <a:avLst/>
          </a:prstGeom>
          <a:solidFill>
            <a:srgbClr val="325F7B"/>
          </a:solidFill>
          <a:ln>
            <a:solidFill>
              <a:schemeClr val="tx1">
                <a:lumMod val="95000"/>
                <a:lumOff val="5000"/>
              </a:schemeClr>
            </a:solidFill>
          </a:ln>
        </p:spPr>
      </p:sp>
      <p:sp>
        <p:nvSpPr>
          <p:cNvPr id="21" name="Text 19"/>
          <p:cNvSpPr/>
          <p:nvPr/>
        </p:nvSpPr>
        <p:spPr>
          <a:xfrm>
            <a:off x="7414260" y="5284708"/>
            <a:ext cx="3238500"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Scalable &amp; Modular Design</a:t>
            </a:r>
            <a:endParaRPr lang="en-US" b="1" dirty="0">
              <a:latin typeface="Times New Roman" panose="02020603050405020304" pitchFamily="18" charset="0"/>
              <a:cs typeface="Times New Roman" panose="02020603050405020304" pitchFamily="18" charset="0"/>
            </a:endParaRPr>
          </a:p>
        </p:txBody>
      </p:sp>
      <p:sp>
        <p:nvSpPr>
          <p:cNvPr id="22" name="Text 20"/>
          <p:cNvSpPr/>
          <p:nvPr/>
        </p:nvSpPr>
        <p:spPr>
          <a:xfrm>
            <a:off x="7441644" y="5660232"/>
            <a:ext cx="6422231"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Enable future integration of ML models, deep learning algorithms, and blockchain-based security mechanisms.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B6974E-9465-22EF-8D85-4172C576AFC4}"/>
              </a:ext>
            </a:extLst>
          </p:cNvPr>
          <p:cNvSpPr txBox="1"/>
          <p:nvPr/>
        </p:nvSpPr>
        <p:spPr>
          <a:xfrm>
            <a:off x="802887" y="562466"/>
            <a:ext cx="73152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EXISTING SYSTEM </a:t>
            </a:r>
          </a:p>
        </p:txBody>
      </p:sp>
      <p:pic>
        <p:nvPicPr>
          <p:cNvPr id="6" name="Picture 5">
            <a:extLst>
              <a:ext uri="{FF2B5EF4-FFF2-40B4-BE49-F238E27FC236}">
                <a16:creationId xmlns:a16="http://schemas.microsoft.com/office/drawing/2014/main" id="{D8232D88-AD44-8D08-BA5B-1A029C75B6EE}"/>
              </a:ext>
            </a:extLst>
          </p:cNvPr>
          <p:cNvPicPr>
            <a:picLocks noChangeAspect="1"/>
          </p:cNvPicPr>
          <p:nvPr/>
        </p:nvPicPr>
        <p:blipFill>
          <a:blip r:embed="rId2"/>
          <a:srcRect l="17760" t="4244" r="5267"/>
          <a:stretch>
            <a:fillRect/>
          </a:stretch>
        </p:blipFill>
        <p:spPr>
          <a:xfrm>
            <a:off x="8664498" y="2397513"/>
            <a:ext cx="5754029" cy="4772136"/>
          </a:xfrm>
          <a:prstGeom prst="rect">
            <a:avLst/>
          </a:prstGeom>
        </p:spPr>
      </p:pic>
      <p:sp>
        <p:nvSpPr>
          <p:cNvPr id="7" name="Rectangle 2">
            <a:extLst>
              <a:ext uri="{FF2B5EF4-FFF2-40B4-BE49-F238E27FC236}">
                <a16:creationId xmlns:a16="http://schemas.microsoft.com/office/drawing/2014/main" id="{7DAE0007-12D9-79E0-8CE7-51BBEA665F07}"/>
              </a:ext>
            </a:extLst>
          </p:cNvPr>
          <p:cNvSpPr>
            <a:spLocks noChangeArrowheads="1"/>
          </p:cNvSpPr>
          <p:nvPr/>
        </p:nvSpPr>
        <p:spPr bwMode="auto">
          <a:xfrm>
            <a:off x="802887" y="937288"/>
            <a:ext cx="8334333" cy="4162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signature-based and rule-based detection, so it identifies only known threats.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detect zero-day attacks and results in high false positives with weak logging.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provide dynamic risk scoring, making threat prioritization difficult.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and logging are handled separately, reducing overall system efficiency.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adaptability to new and evolving cyber attack patterns.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scalable for handling large and complex network environments effectively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Lacks real-time intelligent analysis, resulting in delayed threat detection. </a:t>
            </a:r>
          </a:p>
        </p:txBody>
      </p:sp>
    </p:spTree>
    <p:extLst>
      <p:ext uri="{BB962C8B-B14F-4D97-AF65-F5344CB8AC3E}">
        <p14:creationId xmlns:p14="http://schemas.microsoft.com/office/powerpoint/2010/main" val="1634385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E8DAC-6372-883D-99C6-552302A6A1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362231-BBAF-76BB-F4D4-0E4D8230BBF1}"/>
              </a:ext>
            </a:extLst>
          </p:cNvPr>
          <p:cNvSpPr/>
          <p:nvPr/>
        </p:nvSpPr>
        <p:spPr>
          <a:xfrm>
            <a:off x="771057" y="652736"/>
            <a:ext cx="3215997" cy="401955"/>
          </a:xfrm>
          <a:prstGeom prst="rect">
            <a:avLst/>
          </a:prstGeom>
          <a:noFill/>
          <a:ln/>
        </p:spPr>
        <p:txBody>
          <a:bodyPr wrap="none" lIns="0" tIns="0" rIns="0" bIns="0" rtlCol="0" anchor="t"/>
          <a:lstStyle/>
          <a:p>
            <a:pPr marL="0" indent="0" algn="l">
              <a:lnSpc>
                <a:spcPts val="31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PROPOSED SYSTEM</a:t>
            </a:r>
            <a:endParaRPr lang="en-US" sz="2800" b="1"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328F7125-B7DC-4D93-0325-055A942B3918}"/>
              </a:ext>
            </a:extLst>
          </p:cNvPr>
          <p:cNvSpPr/>
          <p:nvPr/>
        </p:nvSpPr>
        <p:spPr>
          <a:xfrm>
            <a:off x="771057" y="1246985"/>
            <a:ext cx="10625489" cy="1163122"/>
          </a:xfrm>
          <a:prstGeom prst="rect">
            <a:avLst/>
          </a:prstGeom>
          <a:noFill/>
          <a:ln/>
        </p:spPr>
        <p:txBody>
          <a:bodyPr wrap="square" lIns="0" tIns="0" rIns="0" bIns="0" rtlCol="0" anchor="t"/>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CAD (AI-Driven Cyber Anomaly Detection and Secure Audit Logging Framework), is designed as an intelligent cybersecurity solution that uses a behavior-based approach to detect anomalies in real time. </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modular and scalable design of CAD allows easy deployment and future integration with advanced technologies like machine learning, deep learning, and blockchain, making it an effective and reliable cybersecurity framework</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C8399AD9-924F-7790-4077-95A8AD777730}"/>
              </a:ext>
            </a:extLst>
          </p:cNvPr>
          <p:cNvSpPr/>
          <p:nvPr/>
        </p:nvSpPr>
        <p:spPr>
          <a:xfrm>
            <a:off x="771057" y="2805325"/>
            <a:ext cx="6466084" cy="1163122"/>
          </a:xfrm>
          <a:prstGeom prst="rect">
            <a:avLst/>
          </a:prstGeom>
          <a:noFill/>
          <a:ln/>
        </p:spPr>
        <p:txBody>
          <a:bodyPr wrap="square" lIns="0" tIns="0" rIns="0" bIns="0" rtlCol="0" anchor="t"/>
          <a:lstStyle/>
          <a:p>
            <a:pPr algn="l">
              <a:lnSpc>
                <a:spcPct val="150000"/>
              </a:lnSpc>
              <a:buSzPct val="100000"/>
            </a:pPr>
            <a:endParaRPr lang="en-US"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CEAB342F-4EB2-A05A-9D30-D6CA3ACE944D}"/>
              </a:ext>
            </a:extLst>
          </p:cNvPr>
          <p:cNvSpPr>
            <a:spLocks noChangeArrowheads="1"/>
          </p:cNvSpPr>
          <p:nvPr/>
        </p:nvSpPr>
        <p:spPr bwMode="auto">
          <a:xfrm>
            <a:off x="670696" y="3876686"/>
            <a:ext cx="12675329" cy="3885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Behavior-Based Detection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anomalies by detecting deviations from normal user and system behavior.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Continuously analyzes activities, network events, and system interactions instantly.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Techniques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Uses normalization, keyword extraction, and contextual analysis for accurate detection.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Scoring System</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Assigns a score (0–100) and classifies threats into low, medium, and high risk.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Audit Logging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Maintains tamper-resistant logs with timestamps and event details for security and analysis.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Dashboard &amp; Scalability</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real-time visualization and supports future upgrades like AI, ML, and blockchain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Engine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Core component that processes data and detects potential cyber threats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graphicFrame>
        <p:nvGraphicFramePr>
          <p:cNvPr id="7" name="Table 6">
            <a:extLst>
              <a:ext uri="{FF2B5EF4-FFF2-40B4-BE49-F238E27FC236}">
                <a16:creationId xmlns:a16="http://schemas.microsoft.com/office/drawing/2014/main" id="{A927CB09-1700-CBC8-128D-5609F4AE8204}"/>
              </a:ext>
            </a:extLst>
          </p:cNvPr>
          <p:cNvGraphicFramePr>
            <a:graphicFrameLocks noGrp="1"/>
          </p:cNvGraphicFramePr>
          <p:nvPr>
            <p:extLst>
              <p:ext uri="{D42A27DB-BD31-4B8C-83A1-F6EECF244321}">
                <p14:modId xmlns:p14="http://schemas.microsoft.com/office/powerpoint/2010/main" val="212976063"/>
              </p:ext>
            </p:extLst>
          </p:nvPr>
        </p:nvGraphicFramePr>
        <p:xfrm>
          <a:off x="616925" y="4054053"/>
          <a:ext cx="12675329" cy="3885615"/>
        </p:xfrm>
        <a:graphic>
          <a:graphicData uri="http://schemas.openxmlformats.org/drawingml/2006/table">
            <a:tbl>
              <a:tblPr/>
              <a:tblGrid>
                <a:gridCol w="12675329">
                  <a:extLst>
                    <a:ext uri="{9D8B030D-6E8A-4147-A177-3AD203B41FA5}">
                      <a16:colId xmlns:a16="http://schemas.microsoft.com/office/drawing/2014/main" val="272016110"/>
                    </a:ext>
                  </a:extLst>
                </a:gridCol>
              </a:tblGrid>
              <a:tr h="388561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56626806"/>
                  </a:ext>
                </a:extLst>
              </a:tr>
            </a:tbl>
          </a:graphicData>
        </a:graphic>
      </p:graphicFrame>
    </p:spTree>
    <p:extLst>
      <p:ext uri="{BB962C8B-B14F-4D97-AF65-F5344CB8AC3E}">
        <p14:creationId xmlns:p14="http://schemas.microsoft.com/office/powerpoint/2010/main" val="3041080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5786F9-F1B3-8E88-5925-AF7B6F5F2A52}"/>
              </a:ext>
            </a:extLst>
          </p:cNvPr>
          <p:cNvPicPr>
            <a:picLocks noChangeAspect="1"/>
          </p:cNvPicPr>
          <p:nvPr/>
        </p:nvPicPr>
        <p:blipFill>
          <a:blip r:embed="rId2"/>
          <a:stretch>
            <a:fillRect/>
          </a:stretch>
        </p:blipFill>
        <p:spPr>
          <a:xfrm>
            <a:off x="3605503" y="2790683"/>
            <a:ext cx="7419394" cy="4946262"/>
          </a:xfrm>
          <a:prstGeom prst="rect">
            <a:avLst/>
          </a:prstGeom>
        </p:spPr>
      </p:pic>
      <p:sp>
        <p:nvSpPr>
          <p:cNvPr id="5" name="TextBox 4">
            <a:extLst>
              <a:ext uri="{FF2B5EF4-FFF2-40B4-BE49-F238E27FC236}">
                <a16:creationId xmlns:a16="http://schemas.microsoft.com/office/drawing/2014/main" id="{5AE1A0CD-CC11-9F43-FF59-6E202A162C87}"/>
              </a:ext>
            </a:extLst>
          </p:cNvPr>
          <p:cNvSpPr txBox="1"/>
          <p:nvPr/>
        </p:nvSpPr>
        <p:spPr>
          <a:xfrm>
            <a:off x="624467" y="381144"/>
            <a:ext cx="10415239" cy="212006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improves threat detection through dynamic risk scoring and ensures data security with tamper-resistant audit logging.</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system is scalable, easy to deploy, and suitable for future enhancements, making it a reliable solution for modern cyber threat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3390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1057" y="652736"/>
            <a:ext cx="3215997" cy="401955"/>
          </a:xfrm>
          <a:prstGeom prst="rect">
            <a:avLst/>
          </a:prstGeom>
          <a:noFill/>
          <a:ln/>
        </p:spPr>
        <p:txBody>
          <a:bodyPr wrap="none" lIns="0" tIns="0" rIns="0" bIns="0" rtlCol="0" anchor="t"/>
          <a:lstStyle/>
          <a:p>
            <a:pPr marL="0" indent="0" algn="l">
              <a:lnSpc>
                <a:spcPts val="31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METHODOLOGY</a:t>
            </a:r>
            <a:endParaRPr lang="en-US" sz="2800" b="1" dirty="0">
              <a:latin typeface="Times New Roman" panose="02020603050405020304" pitchFamily="18" charset="0"/>
              <a:cs typeface="Times New Roman" panose="02020603050405020304" pitchFamily="18" charset="0"/>
            </a:endParaRPr>
          </a:p>
        </p:txBody>
      </p:sp>
      <p:sp>
        <p:nvSpPr>
          <p:cNvPr id="4" name="Text 2"/>
          <p:cNvSpPr/>
          <p:nvPr/>
        </p:nvSpPr>
        <p:spPr>
          <a:xfrm>
            <a:off x="771057" y="1246985"/>
            <a:ext cx="8027255" cy="1163122"/>
          </a:xfrm>
          <a:prstGeom prst="rect">
            <a:avLst/>
          </a:prstGeom>
          <a:noFill/>
          <a:ln/>
        </p:spPr>
        <p:txBody>
          <a:bodyPr wrap="square" lIns="0" tIns="0" rIns="0" bIns="0" rtlCol="0" anchor="t"/>
          <a:lstStyle/>
          <a:p>
            <a:pPr marL="0" indent="0" algn="just">
              <a:lnSpc>
                <a:spcPct val="150000"/>
              </a:lnSpc>
              <a:buNone/>
            </a:pPr>
            <a:r>
              <a:rPr lang="en-US" dirty="0">
                <a:latin typeface="Times New Roman" panose="02020603050405020304" pitchFamily="18" charset="0"/>
                <a:ea typeface="Source Sans 3" pitchFamily="34" charset="-122"/>
                <a:cs typeface="Times New Roman" panose="02020603050405020304" pitchFamily="18" charset="0"/>
              </a:rPr>
              <a:t>CAD follows a structured, end-to-end pipeline from data collection to visualization. Each stage feeds seamlessly into the next, ensuring real-time analysis with minimal latency.</a:t>
            </a:r>
            <a:endParaRPr lang="en-US" dirty="0">
              <a:latin typeface="Times New Roman" panose="02020603050405020304" pitchFamily="18" charset="0"/>
              <a:cs typeface="Times New Roman" panose="02020603050405020304" pitchFamily="18" charset="0"/>
            </a:endParaRPr>
          </a:p>
        </p:txBody>
      </p:sp>
      <p:sp>
        <p:nvSpPr>
          <p:cNvPr id="5" name="Text 3"/>
          <p:cNvSpPr/>
          <p:nvPr/>
        </p:nvSpPr>
        <p:spPr>
          <a:xfrm>
            <a:off x="771057" y="2805325"/>
            <a:ext cx="6466084" cy="1163122"/>
          </a:xfrm>
          <a:prstGeom prst="rect">
            <a:avLst/>
          </a:prstGeom>
          <a:noFill/>
          <a:ln/>
        </p:spPr>
        <p:txBody>
          <a:bodyPr wrap="square" lIns="0" tIns="0" rIns="0" bIns="0" rtlCol="0" anchor="t"/>
          <a:lstStyle/>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Input Collection:</a:t>
            </a:r>
            <a:r>
              <a:rPr lang="en-US" dirty="0">
                <a:latin typeface="Times New Roman" panose="02020603050405020304" pitchFamily="18" charset="0"/>
                <a:ea typeface="Source Sans 3" pitchFamily="34" charset="-122"/>
                <a:cs typeface="Times New Roman" panose="02020603050405020304" pitchFamily="18" charset="0"/>
              </a:rPr>
              <a:t> Login attempts, command executions, network events</a:t>
            </a:r>
            <a:endParaRPr lang="en-US"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Preprocessing:</a:t>
            </a:r>
            <a:r>
              <a:rPr lang="en-US" dirty="0">
                <a:latin typeface="Times New Roman" panose="02020603050405020304" pitchFamily="18" charset="0"/>
                <a:ea typeface="Source Sans 3" pitchFamily="34" charset="-122"/>
                <a:cs typeface="Times New Roman" panose="02020603050405020304" pitchFamily="18" charset="0"/>
              </a:rPr>
              <a:t> Cleaning, normalization, keyword extraction</a:t>
            </a:r>
            <a:endParaRPr lang="en-US"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Detection Engine:</a:t>
            </a:r>
            <a:r>
              <a:rPr lang="en-US" dirty="0">
                <a:latin typeface="Times New Roman" panose="02020603050405020304" pitchFamily="18" charset="0"/>
                <a:ea typeface="Source Sans 3" pitchFamily="34" charset="-122"/>
                <a:cs typeface="Times New Roman" panose="02020603050405020304" pitchFamily="18" charset="0"/>
              </a:rPr>
              <a:t> Rule-based and behavior-driven pattern analysis</a:t>
            </a:r>
            <a:endParaRPr lang="en-US"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Risk Scoring:</a:t>
            </a:r>
            <a:r>
              <a:rPr lang="en-US" dirty="0">
                <a:latin typeface="Times New Roman" panose="02020603050405020304" pitchFamily="18" charset="0"/>
                <a:ea typeface="Source Sans 3" pitchFamily="34" charset="-122"/>
                <a:cs typeface="Times New Roman" panose="02020603050405020304" pitchFamily="18" charset="0"/>
              </a:rPr>
              <a:t> Dynamic 0–100 score based on keyword intensity, frequency, and context</a:t>
            </a:r>
            <a:endParaRPr lang="en-US"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Classification:</a:t>
            </a:r>
            <a:r>
              <a:rPr lang="en-US" dirty="0">
                <a:latin typeface="Times New Roman" panose="02020603050405020304" pitchFamily="18" charset="0"/>
                <a:ea typeface="Source Sans 3" pitchFamily="34" charset="-122"/>
                <a:cs typeface="Times New Roman" panose="02020603050405020304" pitchFamily="18" charset="0"/>
              </a:rPr>
              <a:t> Low / Medium / High risk categories</a:t>
            </a:r>
            <a:endParaRPr lang="en-US"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b="1" dirty="0">
                <a:latin typeface="Times New Roman" panose="02020603050405020304" pitchFamily="18" charset="0"/>
                <a:ea typeface="Source Sans 3" pitchFamily="34" charset="-122"/>
                <a:cs typeface="Times New Roman" panose="02020603050405020304" pitchFamily="18" charset="0"/>
              </a:rPr>
              <a:t>Output:</a:t>
            </a:r>
            <a:r>
              <a:rPr lang="en-US" dirty="0">
                <a:latin typeface="Times New Roman" panose="02020603050405020304" pitchFamily="18" charset="0"/>
                <a:ea typeface="Source Sans 3" pitchFamily="34" charset="-122"/>
                <a:cs typeface="Times New Roman" panose="02020603050405020304" pitchFamily="18" charset="0"/>
              </a:rPr>
              <a:t> Dashboard visualization + tamper-resistant audit log</a:t>
            </a:r>
            <a:endParaRPr lang="en-US"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rcRect l="7985" t="6004" r="10041" b="20254"/>
          <a:stretch>
            <a:fillRect/>
          </a:stretch>
        </p:blipFill>
        <p:spPr>
          <a:xfrm>
            <a:off x="9209285" y="652736"/>
            <a:ext cx="4457004" cy="65911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8632" y="619483"/>
            <a:ext cx="2915245" cy="364450"/>
          </a:xfrm>
          <a:prstGeom prst="rect">
            <a:avLst/>
          </a:prstGeom>
          <a:noFill/>
          <a:ln/>
        </p:spPr>
        <p:txBody>
          <a:bodyPr wrap="none" lIns="0" tIns="0" rIns="0" bIns="0" rtlCol="0" anchor="t"/>
          <a:lstStyle/>
          <a:p>
            <a:pPr marL="0" indent="0" algn="l">
              <a:lnSpc>
                <a:spcPts val="2850"/>
              </a:lnSpc>
              <a:buNone/>
            </a:pPr>
            <a:r>
              <a:rPr lang="en-US" sz="2800" b="1" dirty="0">
                <a:latin typeface="Times New Roman" panose="02020603050405020304" pitchFamily="18" charset="0"/>
                <a:ea typeface="MuseoModerno Medium" pitchFamily="34" charset="-122"/>
                <a:cs typeface="Times New Roman" panose="02020603050405020304" pitchFamily="18" charset="0"/>
              </a:rPr>
              <a:t>SYSTEM ARCHITECTURE</a:t>
            </a:r>
            <a:endParaRPr lang="en-US" sz="2800" b="1" dirty="0">
              <a:latin typeface="Times New Roman" panose="02020603050405020304" pitchFamily="18" charset="0"/>
              <a:cs typeface="Times New Roman" panose="02020603050405020304" pitchFamily="18" charset="0"/>
            </a:endParaRPr>
          </a:p>
        </p:txBody>
      </p:sp>
      <p:sp>
        <p:nvSpPr>
          <p:cNvPr id="3" name="Text 1"/>
          <p:cNvSpPr/>
          <p:nvPr/>
        </p:nvSpPr>
        <p:spPr>
          <a:xfrm>
            <a:off x="598632" y="1188185"/>
            <a:ext cx="9195673" cy="147995"/>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CAD's modular architecture integrates five key components into a seamless </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data flow — from user interaction to secure storage</a:t>
            </a:r>
            <a:r>
              <a:rPr lang="en-US" sz="900" dirty="0">
                <a:solidFill>
                  <a:srgbClr val="2B4150"/>
                </a:solidFill>
                <a:latin typeface="Source Sans 3" pitchFamily="34" charset="0"/>
                <a:ea typeface="Source Sans 3" pitchFamily="34" charset="-122"/>
                <a:cs typeface="Source Sans 3" pitchFamily="34" charset="-120"/>
              </a:rPr>
              <a:t>.</a:t>
            </a:r>
            <a:endParaRPr lang="en-US" sz="900" dirty="0"/>
          </a:p>
        </p:txBody>
      </p:sp>
      <p:pic>
        <p:nvPicPr>
          <p:cNvPr id="4" name="Image 0" descr="preencoded.png"/>
          <p:cNvPicPr>
            <a:picLocks noChangeAspect="1"/>
          </p:cNvPicPr>
          <p:nvPr/>
        </p:nvPicPr>
        <p:blipFill>
          <a:blip r:embed="rId3"/>
          <a:srcRect t="16394" b="8896"/>
          <a:stretch>
            <a:fillRect/>
          </a:stretch>
        </p:blipFill>
        <p:spPr>
          <a:xfrm>
            <a:off x="6768884" y="3278465"/>
            <a:ext cx="4141718" cy="4279001"/>
          </a:xfrm>
          <a:prstGeom prst="rect">
            <a:avLst/>
          </a:prstGeom>
        </p:spPr>
      </p:pic>
      <p:sp>
        <p:nvSpPr>
          <p:cNvPr id="5" name="Shape 2"/>
          <p:cNvSpPr/>
          <p:nvPr/>
        </p:nvSpPr>
        <p:spPr>
          <a:xfrm>
            <a:off x="613707" y="2234683"/>
            <a:ext cx="5028809" cy="1009175"/>
          </a:xfrm>
          <a:prstGeom prst="roundRect">
            <a:avLst>
              <a:gd name="adj" fmla="val 2500"/>
            </a:avLst>
          </a:prstGeom>
          <a:ln>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sp>
      <p:sp>
        <p:nvSpPr>
          <p:cNvPr id="6" name="Shape 3"/>
          <p:cNvSpPr/>
          <p:nvPr/>
        </p:nvSpPr>
        <p:spPr>
          <a:xfrm>
            <a:off x="613708" y="2249923"/>
            <a:ext cx="466368" cy="993935"/>
          </a:xfrm>
          <a:prstGeom prst="rect">
            <a:avLst/>
          </a:prstGeom>
          <a:ln>
            <a:solidFill>
              <a:schemeClr val="tx1">
                <a:lumMod val="95000"/>
                <a:lumOff val="5000"/>
              </a:schemeClr>
            </a:solidFill>
          </a:ln>
        </p:spPr>
        <p:style>
          <a:lnRef idx="2">
            <a:schemeClr val="accent1"/>
          </a:lnRef>
          <a:fillRef idx="1">
            <a:schemeClr val="lt1"/>
          </a:fillRef>
          <a:effectRef idx="0">
            <a:schemeClr val="accent1"/>
          </a:effectRef>
          <a:fontRef idx="minor">
            <a:schemeClr val="dk1"/>
          </a:fontRef>
        </p:style>
      </p:sp>
      <p:sp>
        <p:nvSpPr>
          <p:cNvPr id="7" name="Text 4"/>
          <p:cNvSpPr/>
          <p:nvPr/>
        </p:nvSpPr>
        <p:spPr>
          <a:xfrm>
            <a:off x="817484" y="2675453"/>
            <a:ext cx="174903" cy="218599"/>
          </a:xfrm>
          <a:prstGeom prst="rect">
            <a:avLst/>
          </a:prstGeom>
          <a:noFill/>
          <a:ln/>
        </p:spPr>
        <p:txBody>
          <a:bodyPr wrap="none" lIns="0" tIns="0" rIns="0" bIns="0" rtlCol="0" anchor="t"/>
          <a:lstStyle/>
          <a:p>
            <a:pPr marL="0" indent="0" algn="l">
              <a:lnSpc>
                <a:spcPts val="1350"/>
              </a:lnSpc>
              <a:buNone/>
            </a:pPr>
            <a:r>
              <a:rPr lang="en-US" dirty="0">
                <a:latin typeface="Times New Roman" panose="02020603050405020304" pitchFamily="18" charset="0"/>
                <a:ea typeface="MuseoModerno Medium" pitchFamily="34" charset="-122"/>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1223785" y="2361633"/>
            <a:ext cx="1457563" cy="182166"/>
          </a:xfrm>
          <a:prstGeom prst="rect">
            <a:avLst/>
          </a:prstGeom>
          <a:noFill/>
          <a:ln/>
        </p:spPr>
        <p:txBody>
          <a:bodyPr wrap="none" lIns="0" tIns="0" rIns="0" bIns="0" rtlCol="0" anchor="t"/>
          <a:lstStyle/>
          <a:p>
            <a:pPr marL="0" indent="0" algn="l">
              <a:lnSpc>
                <a:spcPts val="1400"/>
              </a:lnSpc>
              <a:buNone/>
            </a:pPr>
            <a:r>
              <a:rPr lang="en-US" b="1" dirty="0">
                <a:latin typeface="Times New Roman" panose="02020603050405020304" pitchFamily="18" charset="0"/>
                <a:ea typeface="MuseoModerno Medium" pitchFamily="34" charset="-122"/>
                <a:cs typeface="Times New Roman" panose="02020603050405020304" pitchFamily="18" charset="0"/>
              </a:rPr>
              <a:t>UI Frontend</a:t>
            </a:r>
            <a:endParaRPr lang="en-US" b="1" dirty="0">
              <a:latin typeface="Times New Roman" panose="02020603050405020304" pitchFamily="18" charset="0"/>
              <a:cs typeface="Times New Roman" panose="02020603050405020304" pitchFamily="18" charset="0"/>
            </a:endParaRPr>
          </a:p>
        </p:txBody>
      </p:sp>
      <p:sp>
        <p:nvSpPr>
          <p:cNvPr id="9" name="Text 6"/>
          <p:cNvSpPr/>
          <p:nvPr/>
        </p:nvSpPr>
        <p:spPr>
          <a:xfrm>
            <a:off x="1278820" y="2554858"/>
            <a:ext cx="4301074" cy="433672"/>
          </a:xfrm>
          <a:prstGeom prst="rect">
            <a:avLst/>
          </a:prstGeom>
          <a:noFill/>
          <a:ln/>
        </p:spPr>
        <p:txBody>
          <a:bodyPr wrap="none" lIns="0" tIns="0" rIns="0" bIns="0" rtlCol="0" anchor="t"/>
          <a:lstStyle/>
          <a:p>
            <a:pPr marL="0" indent="0">
              <a:buNone/>
            </a:pPr>
            <a:r>
              <a:rPr lang="en-US" dirty="0">
                <a:latin typeface="Times New Roman" panose="02020603050405020304" pitchFamily="18" charset="0"/>
                <a:ea typeface="Source Sans 3" pitchFamily="34" charset="-122"/>
                <a:cs typeface="Times New Roman" panose="02020603050405020304" pitchFamily="18" charset="0"/>
              </a:rPr>
              <a:t>Interactive dashboard for administrator input</a:t>
            </a:r>
          </a:p>
          <a:p>
            <a:pPr marL="0" indent="0">
              <a:buNone/>
            </a:pPr>
            <a:r>
              <a:rPr lang="en-US" dirty="0">
                <a:latin typeface="Times New Roman" panose="02020603050405020304" pitchFamily="18" charset="0"/>
                <a:ea typeface="Source Sans 3" pitchFamily="34" charset="-122"/>
                <a:cs typeface="Times New Roman" panose="02020603050405020304" pitchFamily="18" charset="0"/>
              </a:rPr>
              <a:t> and real-time monitoring.</a:t>
            </a:r>
            <a:endParaRPr lang="en-US" dirty="0">
              <a:latin typeface="Times New Roman" panose="02020603050405020304" pitchFamily="18" charset="0"/>
              <a:cs typeface="Times New Roman" panose="02020603050405020304" pitchFamily="18" charset="0"/>
            </a:endParaRPr>
          </a:p>
        </p:txBody>
      </p:sp>
      <p:sp>
        <p:nvSpPr>
          <p:cNvPr id="30" name="Shape 2">
            <a:extLst>
              <a:ext uri="{FF2B5EF4-FFF2-40B4-BE49-F238E27FC236}">
                <a16:creationId xmlns:a16="http://schemas.microsoft.com/office/drawing/2014/main" id="{C4860B5E-7459-B2BB-3392-12D28E343E32}"/>
              </a:ext>
            </a:extLst>
          </p:cNvPr>
          <p:cNvSpPr/>
          <p:nvPr/>
        </p:nvSpPr>
        <p:spPr>
          <a:xfrm>
            <a:off x="598632" y="3453287"/>
            <a:ext cx="5043884" cy="1009175"/>
          </a:xfrm>
          <a:prstGeom prst="roundRect">
            <a:avLst>
              <a:gd name="adj" fmla="val 2500"/>
            </a:avLst>
          </a:prstGeom>
          <a:ln>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sp>
      <p:sp>
        <p:nvSpPr>
          <p:cNvPr id="31" name="Shape 2">
            <a:extLst>
              <a:ext uri="{FF2B5EF4-FFF2-40B4-BE49-F238E27FC236}">
                <a16:creationId xmlns:a16="http://schemas.microsoft.com/office/drawing/2014/main" id="{E00B118D-0827-081F-5292-E41E0003E948}"/>
              </a:ext>
            </a:extLst>
          </p:cNvPr>
          <p:cNvSpPr/>
          <p:nvPr/>
        </p:nvSpPr>
        <p:spPr>
          <a:xfrm>
            <a:off x="598632" y="4674241"/>
            <a:ext cx="5043884" cy="1009175"/>
          </a:xfrm>
          <a:prstGeom prst="roundRect">
            <a:avLst>
              <a:gd name="adj" fmla="val 2500"/>
            </a:avLst>
          </a:prstGeom>
          <a:ln>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sp>
      <p:sp>
        <p:nvSpPr>
          <p:cNvPr id="32" name="Shape 2">
            <a:extLst>
              <a:ext uri="{FF2B5EF4-FFF2-40B4-BE49-F238E27FC236}">
                <a16:creationId xmlns:a16="http://schemas.microsoft.com/office/drawing/2014/main" id="{63598931-2C30-9274-8A1F-36D1B1C077DF}"/>
              </a:ext>
            </a:extLst>
          </p:cNvPr>
          <p:cNvSpPr/>
          <p:nvPr/>
        </p:nvSpPr>
        <p:spPr>
          <a:xfrm>
            <a:off x="613706" y="5895195"/>
            <a:ext cx="5043883" cy="1009175"/>
          </a:xfrm>
          <a:prstGeom prst="roundRect">
            <a:avLst>
              <a:gd name="adj" fmla="val 2500"/>
            </a:avLst>
          </a:prstGeom>
          <a:ln>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sp>
      <p:sp>
        <p:nvSpPr>
          <p:cNvPr id="33" name="Shape 3">
            <a:extLst>
              <a:ext uri="{FF2B5EF4-FFF2-40B4-BE49-F238E27FC236}">
                <a16:creationId xmlns:a16="http://schemas.microsoft.com/office/drawing/2014/main" id="{4A9F509D-C8A0-6742-1757-1553C6926D26}"/>
              </a:ext>
            </a:extLst>
          </p:cNvPr>
          <p:cNvSpPr/>
          <p:nvPr/>
        </p:nvSpPr>
        <p:spPr>
          <a:xfrm>
            <a:off x="598632" y="3460906"/>
            <a:ext cx="466368" cy="993935"/>
          </a:xfrm>
          <a:prstGeom prst="rect">
            <a:avLst/>
          </a:prstGeom>
          <a:ln>
            <a:solidFill>
              <a:schemeClr val="tx1">
                <a:lumMod val="95000"/>
                <a:lumOff val="5000"/>
              </a:schemeClr>
            </a:solidFill>
          </a:ln>
        </p:spPr>
        <p:style>
          <a:lnRef idx="2">
            <a:schemeClr val="accent1"/>
          </a:lnRef>
          <a:fillRef idx="1">
            <a:schemeClr val="lt1"/>
          </a:fillRef>
          <a:effectRef idx="0">
            <a:schemeClr val="accent1"/>
          </a:effectRef>
          <a:fontRef idx="minor">
            <a:schemeClr val="dk1"/>
          </a:fontRef>
        </p:style>
      </p:sp>
      <p:sp>
        <p:nvSpPr>
          <p:cNvPr id="34" name="Shape 3">
            <a:extLst>
              <a:ext uri="{FF2B5EF4-FFF2-40B4-BE49-F238E27FC236}">
                <a16:creationId xmlns:a16="http://schemas.microsoft.com/office/drawing/2014/main" id="{7E2ED42F-4833-4E87-D686-7530F88D324F}"/>
              </a:ext>
            </a:extLst>
          </p:cNvPr>
          <p:cNvSpPr/>
          <p:nvPr/>
        </p:nvSpPr>
        <p:spPr>
          <a:xfrm>
            <a:off x="600282" y="4681860"/>
            <a:ext cx="466368" cy="993935"/>
          </a:xfrm>
          <a:prstGeom prst="rect">
            <a:avLst/>
          </a:prstGeom>
          <a:ln>
            <a:solidFill>
              <a:schemeClr val="tx1">
                <a:lumMod val="95000"/>
                <a:lumOff val="5000"/>
              </a:schemeClr>
            </a:solidFill>
          </a:ln>
        </p:spPr>
        <p:style>
          <a:lnRef idx="2">
            <a:schemeClr val="accent1"/>
          </a:lnRef>
          <a:fillRef idx="1">
            <a:schemeClr val="lt1"/>
          </a:fillRef>
          <a:effectRef idx="0">
            <a:schemeClr val="accent1"/>
          </a:effectRef>
          <a:fontRef idx="minor">
            <a:schemeClr val="dk1"/>
          </a:fontRef>
        </p:style>
      </p:sp>
      <p:sp>
        <p:nvSpPr>
          <p:cNvPr id="35" name="Shape 3">
            <a:extLst>
              <a:ext uri="{FF2B5EF4-FFF2-40B4-BE49-F238E27FC236}">
                <a16:creationId xmlns:a16="http://schemas.microsoft.com/office/drawing/2014/main" id="{768B1D6B-7427-4AEF-B7AF-078BDF184618}"/>
              </a:ext>
            </a:extLst>
          </p:cNvPr>
          <p:cNvSpPr/>
          <p:nvPr/>
        </p:nvSpPr>
        <p:spPr>
          <a:xfrm>
            <a:off x="626520" y="5902814"/>
            <a:ext cx="466368" cy="993935"/>
          </a:xfrm>
          <a:prstGeom prst="rect">
            <a:avLst/>
          </a:prstGeom>
          <a:ln>
            <a:solidFill>
              <a:schemeClr val="tx1">
                <a:lumMod val="95000"/>
                <a:lumOff val="5000"/>
              </a:schemeClr>
            </a:solidFill>
          </a:ln>
        </p:spPr>
        <p:style>
          <a:lnRef idx="2">
            <a:schemeClr val="accent1"/>
          </a:lnRef>
          <a:fillRef idx="1">
            <a:schemeClr val="lt1"/>
          </a:fillRef>
          <a:effectRef idx="0">
            <a:schemeClr val="accent1"/>
          </a:effectRef>
          <a:fontRef idx="minor">
            <a:schemeClr val="dk1"/>
          </a:fontRef>
        </p:style>
      </p:sp>
      <p:sp>
        <p:nvSpPr>
          <p:cNvPr id="12" name="Text 9"/>
          <p:cNvSpPr/>
          <p:nvPr/>
        </p:nvSpPr>
        <p:spPr>
          <a:xfrm>
            <a:off x="772252" y="3886361"/>
            <a:ext cx="174903" cy="218599"/>
          </a:xfrm>
          <a:prstGeom prst="rect">
            <a:avLst/>
          </a:prstGeom>
          <a:noFill/>
          <a:ln/>
        </p:spPr>
        <p:txBody>
          <a:bodyPr wrap="none" lIns="0" tIns="0" rIns="0" bIns="0" rtlCol="0" anchor="t"/>
          <a:lstStyle/>
          <a:p>
            <a:pPr marL="0" indent="0" algn="l">
              <a:lnSpc>
                <a:spcPts val="1350"/>
              </a:lnSpc>
              <a:buNone/>
            </a:pPr>
            <a:r>
              <a:rPr lang="en-US" dirty="0">
                <a:latin typeface="Times New Roman" panose="02020603050405020304" pitchFamily="18" charset="0"/>
                <a:ea typeface="MuseoModerno Medium" pitchFamily="34" charset="-122"/>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1223784" y="3593272"/>
            <a:ext cx="1457563" cy="182166"/>
          </a:xfrm>
          <a:prstGeom prst="rect">
            <a:avLst/>
          </a:prstGeom>
          <a:noFill/>
          <a:ln/>
        </p:spPr>
        <p:txBody>
          <a:bodyPr wrap="none" lIns="0" tIns="0" rIns="0" bIns="0" rtlCol="0" anchor="t"/>
          <a:lstStyle/>
          <a:p>
            <a:pPr marL="0" indent="0" algn="l">
              <a:lnSpc>
                <a:spcPts val="1400"/>
              </a:lnSpc>
              <a:buNone/>
            </a:pPr>
            <a:r>
              <a:rPr lang="en-US" b="1" dirty="0">
                <a:latin typeface="Times New Roman" panose="02020603050405020304" pitchFamily="18" charset="0"/>
                <a:ea typeface="MuseoModerno Medium" pitchFamily="34" charset="-122"/>
                <a:cs typeface="Times New Roman" panose="02020603050405020304" pitchFamily="18" charset="0"/>
              </a:rPr>
              <a:t>Detection Engine</a:t>
            </a:r>
            <a:endParaRPr lang="en-US" b="1" dirty="0">
              <a:latin typeface="Times New Roman" panose="02020603050405020304" pitchFamily="18" charset="0"/>
              <a:cs typeface="Times New Roman" panose="02020603050405020304" pitchFamily="18" charset="0"/>
            </a:endParaRPr>
          </a:p>
        </p:txBody>
      </p:sp>
      <p:sp>
        <p:nvSpPr>
          <p:cNvPr id="14" name="Text 11"/>
          <p:cNvSpPr/>
          <p:nvPr/>
        </p:nvSpPr>
        <p:spPr>
          <a:xfrm>
            <a:off x="1223785" y="3809880"/>
            <a:ext cx="4418731" cy="295989"/>
          </a:xfrm>
          <a:prstGeom prst="rect">
            <a:avLst/>
          </a:prstGeom>
          <a:noFill/>
          <a:ln/>
        </p:spPr>
        <p:txBody>
          <a:bodyPr wrap="squar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Behavior-based anomaly identification; detects deviations from normal activity</a:t>
            </a:r>
            <a:r>
              <a:rPr lang="en-US" sz="900" dirty="0">
                <a:solidFill>
                  <a:srgbClr val="2B4150"/>
                </a:solidFill>
                <a:latin typeface="Source Sans 3" pitchFamily="34" charset="0"/>
                <a:ea typeface="Source Sans 3" pitchFamily="34" charset="-122"/>
                <a:cs typeface="Source Sans 3" pitchFamily="34" charset="-120"/>
              </a:rPr>
              <a:t>.</a:t>
            </a:r>
            <a:endParaRPr lang="en-US" sz="900" dirty="0"/>
          </a:p>
        </p:txBody>
      </p:sp>
      <p:sp>
        <p:nvSpPr>
          <p:cNvPr id="18" name="Text 15"/>
          <p:cNvSpPr/>
          <p:nvPr/>
        </p:nvSpPr>
        <p:spPr>
          <a:xfrm>
            <a:off x="1278820" y="4813935"/>
            <a:ext cx="1457563" cy="147995"/>
          </a:xfrm>
          <a:prstGeom prst="rect">
            <a:avLst/>
          </a:prstGeom>
          <a:noFill/>
          <a:ln/>
        </p:spPr>
        <p:txBody>
          <a:bodyPr wrap="none" lIns="0" tIns="0" rIns="0" bIns="0" rtlCol="0" anchor="t"/>
          <a:lstStyle/>
          <a:p>
            <a:pPr marL="0" indent="0" algn="l">
              <a:lnSpc>
                <a:spcPts val="1400"/>
              </a:lnSpc>
              <a:buNone/>
            </a:pPr>
            <a:r>
              <a:rPr lang="en-US" b="1" dirty="0">
                <a:latin typeface="Times New Roman" panose="02020603050405020304" pitchFamily="18" charset="0"/>
                <a:ea typeface="MuseoModerno Medium" pitchFamily="34" charset="-122"/>
                <a:cs typeface="Times New Roman" panose="02020603050405020304" pitchFamily="18" charset="0"/>
              </a:rPr>
              <a:t>Risk Scoring Module</a:t>
            </a:r>
            <a:endParaRPr lang="en-US" b="1" dirty="0">
              <a:latin typeface="Times New Roman" panose="02020603050405020304" pitchFamily="18" charset="0"/>
              <a:cs typeface="Times New Roman" panose="02020603050405020304" pitchFamily="18" charset="0"/>
            </a:endParaRPr>
          </a:p>
        </p:txBody>
      </p:sp>
      <p:sp>
        <p:nvSpPr>
          <p:cNvPr id="19" name="Text 16"/>
          <p:cNvSpPr/>
          <p:nvPr/>
        </p:nvSpPr>
        <p:spPr>
          <a:xfrm>
            <a:off x="1278820" y="4998638"/>
            <a:ext cx="3773805" cy="147995"/>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Assigns dynamic scores and classifies events </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into Low / Medium / High risk</a:t>
            </a:r>
            <a:r>
              <a:rPr lang="en-US" sz="900" dirty="0">
                <a:solidFill>
                  <a:srgbClr val="2B4150"/>
                </a:solidFill>
                <a:latin typeface="Source Sans 3" pitchFamily="34" charset="0"/>
                <a:ea typeface="Source Sans 3" pitchFamily="34" charset="-122"/>
                <a:cs typeface="Source Sans 3" pitchFamily="34" charset="-120"/>
              </a:rPr>
              <a:t>.</a:t>
            </a:r>
            <a:endParaRPr lang="en-US" sz="900" dirty="0"/>
          </a:p>
        </p:txBody>
      </p:sp>
      <p:sp>
        <p:nvSpPr>
          <p:cNvPr id="23" name="Text 20"/>
          <p:cNvSpPr/>
          <p:nvPr/>
        </p:nvSpPr>
        <p:spPr>
          <a:xfrm>
            <a:off x="1223784" y="6041616"/>
            <a:ext cx="575469" cy="147995"/>
          </a:xfrm>
          <a:prstGeom prst="rect">
            <a:avLst/>
          </a:prstGeom>
          <a:noFill/>
          <a:ln/>
        </p:spPr>
        <p:txBody>
          <a:bodyPr wrap="none" lIns="0" tIns="0" rIns="0" bIns="0" rtlCol="0" anchor="t"/>
          <a:lstStyle/>
          <a:p>
            <a:pPr marL="0" indent="0" algn="l">
              <a:lnSpc>
                <a:spcPts val="1400"/>
              </a:lnSpc>
              <a:buNone/>
            </a:pPr>
            <a:r>
              <a:rPr lang="en-US" b="1" dirty="0">
                <a:latin typeface="Times New Roman" panose="02020603050405020304" pitchFamily="18" charset="0"/>
                <a:ea typeface="MuseoModerno Medium" pitchFamily="34" charset="-122"/>
                <a:cs typeface="Times New Roman" panose="02020603050405020304" pitchFamily="18" charset="0"/>
              </a:rPr>
              <a:t>Secure Audit Logging</a:t>
            </a:r>
            <a:endParaRPr lang="en-US" b="1" dirty="0">
              <a:latin typeface="Times New Roman" panose="02020603050405020304" pitchFamily="18" charset="0"/>
              <a:cs typeface="Times New Roman" panose="02020603050405020304" pitchFamily="18" charset="0"/>
            </a:endParaRPr>
          </a:p>
        </p:txBody>
      </p:sp>
      <p:sp>
        <p:nvSpPr>
          <p:cNvPr id="24" name="Text 21"/>
          <p:cNvSpPr/>
          <p:nvPr/>
        </p:nvSpPr>
        <p:spPr>
          <a:xfrm>
            <a:off x="1233671" y="6253395"/>
            <a:ext cx="3773805" cy="295989"/>
          </a:xfrm>
          <a:prstGeom prst="rect">
            <a:avLst/>
          </a:prstGeom>
          <a:noFill/>
          <a:ln/>
        </p:spPr>
        <p:txBody>
          <a:bodyPr wrap="squar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Tamper-resistant structured storage with timestamps and classification labels</a:t>
            </a:r>
            <a:r>
              <a:rPr lang="en-US" sz="900" dirty="0">
                <a:solidFill>
                  <a:srgbClr val="2B4150"/>
                </a:solidFill>
                <a:latin typeface="Source Sans 3" pitchFamily="34" charset="0"/>
                <a:ea typeface="Source Sans 3" pitchFamily="34" charset="-122"/>
                <a:cs typeface="Source Sans 3" pitchFamily="34" charset="-120"/>
              </a:rPr>
              <a:t>.</a:t>
            </a:r>
            <a:endParaRPr lang="en-US" sz="900" dirty="0"/>
          </a:p>
        </p:txBody>
      </p:sp>
      <p:sp>
        <p:nvSpPr>
          <p:cNvPr id="17" name="Text 14"/>
          <p:cNvSpPr/>
          <p:nvPr/>
        </p:nvSpPr>
        <p:spPr>
          <a:xfrm>
            <a:off x="812452" y="5137276"/>
            <a:ext cx="466368" cy="561380"/>
          </a:xfrm>
          <a:prstGeom prst="rect">
            <a:avLst/>
          </a:prstGeom>
          <a:noFill/>
          <a:ln/>
        </p:spPr>
        <p:txBody>
          <a:bodyPr wrap="none" lIns="0" tIns="0" rIns="0" bIns="0" rtlCol="0" anchor="t"/>
          <a:lstStyle/>
          <a:p>
            <a:pPr marL="0" indent="0" algn="l">
              <a:lnSpc>
                <a:spcPts val="1350"/>
              </a:lnSpc>
              <a:buNone/>
            </a:pPr>
            <a:r>
              <a:rPr lang="en-US" dirty="0">
                <a:latin typeface="Times New Roman" panose="02020603050405020304" pitchFamily="18" charset="0"/>
                <a:ea typeface="MuseoModerno Medium" pitchFamily="34" charset="-122"/>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22" name="Text 19"/>
          <p:cNvSpPr/>
          <p:nvPr/>
        </p:nvSpPr>
        <p:spPr>
          <a:xfrm>
            <a:off x="817483" y="6290481"/>
            <a:ext cx="174903" cy="218599"/>
          </a:xfrm>
          <a:prstGeom prst="rect">
            <a:avLst/>
          </a:prstGeom>
          <a:noFill/>
          <a:ln/>
        </p:spPr>
        <p:txBody>
          <a:bodyPr wrap="none" lIns="0" tIns="0" rIns="0" bIns="0" rtlCol="0" anchor="t"/>
          <a:lstStyle/>
          <a:p>
            <a:pPr marL="0" indent="0" algn="l">
              <a:lnSpc>
                <a:spcPts val="1350"/>
              </a:lnSpc>
              <a:buNone/>
            </a:pPr>
            <a:r>
              <a:rPr lang="en-US" dirty="0">
                <a:latin typeface="Times New Roman" panose="02020603050405020304" pitchFamily="18" charset="0"/>
                <a:ea typeface="MuseoModerno Medium" pitchFamily="34" charset="-122"/>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sp>
        <p:nvSpPr>
          <p:cNvPr id="36" name="Shape 2">
            <a:extLst>
              <a:ext uri="{FF2B5EF4-FFF2-40B4-BE49-F238E27FC236}">
                <a16:creationId xmlns:a16="http://schemas.microsoft.com/office/drawing/2014/main" id="{D08F5C53-3867-C45F-9249-F01ECCDCE119}"/>
              </a:ext>
            </a:extLst>
          </p:cNvPr>
          <p:cNvSpPr/>
          <p:nvPr/>
        </p:nvSpPr>
        <p:spPr>
          <a:xfrm>
            <a:off x="6368704" y="2233663"/>
            <a:ext cx="5043883" cy="1009175"/>
          </a:xfrm>
          <a:prstGeom prst="roundRect">
            <a:avLst>
              <a:gd name="adj" fmla="val 2500"/>
            </a:avLst>
          </a:prstGeom>
          <a:ln>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sp>
      <p:sp>
        <p:nvSpPr>
          <p:cNvPr id="37" name="Shape 3">
            <a:extLst>
              <a:ext uri="{FF2B5EF4-FFF2-40B4-BE49-F238E27FC236}">
                <a16:creationId xmlns:a16="http://schemas.microsoft.com/office/drawing/2014/main" id="{D205687B-E3B8-0F90-7EC1-55FD69A1C9EA}"/>
              </a:ext>
            </a:extLst>
          </p:cNvPr>
          <p:cNvSpPr/>
          <p:nvPr/>
        </p:nvSpPr>
        <p:spPr>
          <a:xfrm>
            <a:off x="6368704" y="2241282"/>
            <a:ext cx="466368" cy="993935"/>
          </a:xfrm>
          <a:prstGeom prst="rect">
            <a:avLst/>
          </a:prstGeom>
          <a:ln>
            <a:solidFill>
              <a:schemeClr val="tx1">
                <a:lumMod val="95000"/>
                <a:lumOff val="5000"/>
              </a:schemeClr>
            </a:solidFill>
          </a:ln>
        </p:spPr>
        <p:style>
          <a:lnRef idx="2">
            <a:schemeClr val="accent1"/>
          </a:lnRef>
          <a:fillRef idx="1">
            <a:schemeClr val="lt1"/>
          </a:fillRef>
          <a:effectRef idx="0">
            <a:schemeClr val="accent1"/>
          </a:effectRef>
          <a:fontRef idx="minor">
            <a:schemeClr val="dk1"/>
          </a:fontRef>
        </p:style>
      </p:sp>
      <p:sp>
        <p:nvSpPr>
          <p:cNvPr id="27" name="Text 24"/>
          <p:cNvSpPr/>
          <p:nvPr/>
        </p:nvSpPr>
        <p:spPr>
          <a:xfrm>
            <a:off x="6514436" y="2675452"/>
            <a:ext cx="174903" cy="218599"/>
          </a:xfrm>
          <a:prstGeom prst="rect">
            <a:avLst/>
          </a:prstGeom>
          <a:noFill/>
          <a:ln/>
        </p:spPr>
        <p:txBody>
          <a:bodyPr wrap="none" lIns="0" tIns="0" rIns="0" bIns="0" rtlCol="0" anchor="t"/>
          <a:lstStyle/>
          <a:p>
            <a:pPr marL="0" indent="0" algn="l">
              <a:lnSpc>
                <a:spcPts val="1350"/>
              </a:lnSpc>
              <a:buNone/>
            </a:pPr>
            <a:r>
              <a:rPr lang="en-US" dirty="0">
                <a:latin typeface="Times New Roman" panose="02020603050405020304" pitchFamily="18" charset="0"/>
                <a:ea typeface="MuseoModerno Medium" pitchFamily="34" charset="-122"/>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p:txBody>
      </p:sp>
      <p:sp>
        <p:nvSpPr>
          <p:cNvPr id="28" name="Text 25"/>
          <p:cNvSpPr/>
          <p:nvPr/>
        </p:nvSpPr>
        <p:spPr>
          <a:xfrm>
            <a:off x="6952841" y="2372692"/>
            <a:ext cx="1481495" cy="182166"/>
          </a:xfrm>
          <a:prstGeom prst="rect">
            <a:avLst/>
          </a:prstGeom>
          <a:noFill/>
          <a:ln/>
        </p:spPr>
        <p:txBody>
          <a:bodyPr wrap="none" lIns="0" tIns="0" rIns="0" bIns="0" rtlCol="0" anchor="t"/>
          <a:lstStyle/>
          <a:p>
            <a:pPr marL="0" indent="0" algn="l">
              <a:lnSpc>
                <a:spcPts val="1400"/>
              </a:lnSpc>
              <a:buNone/>
            </a:pPr>
            <a:r>
              <a:rPr lang="en-US" b="1" dirty="0">
                <a:latin typeface="Times New Roman" panose="02020603050405020304" pitchFamily="18" charset="0"/>
                <a:ea typeface="MuseoModerno Medium" pitchFamily="34" charset="-122"/>
                <a:cs typeface="Times New Roman" panose="02020603050405020304" pitchFamily="18" charset="0"/>
              </a:rPr>
              <a:t>Backend &amp; Database</a:t>
            </a:r>
            <a:endParaRPr lang="en-US" b="1" dirty="0">
              <a:latin typeface="Times New Roman" panose="02020603050405020304" pitchFamily="18" charset="0"/>
              <a:cs typeface="Times New Roman" panose="02020603050405020304" pitchFamily="18" charset="0"/>
            </a:endParaRPr>
          </a:p>
        </p:txBody>
      </p:sp>
      <p:sp>
        <p:nvSpPr>
          <p:cNvPr id="29" name="Text 26"/>
          <p:cNvSpPr/>
          <p:nvPr/>
        </p:nvSpPr>
        <p:spPr>
          <a:xfrm>
            <a:off x="6952841" y="2554858"/>
            <a:ext cx="3773805" cy="147995"/>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Manages inter-module communication and </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long-term data storage.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96269" y="541078"/>
            <a:ext cx="3914299" cy="489347"/>
          </a:xfrm>
          <a:prstGeom prst="rect">
            <a:avLst/>
          </a:prstGeom>
          <a:noFill/>
          <a:ln/>
        </p:spPr>
        <p:txBody>
          <a:bodyPr wrap="none" lIns="0" tIns="0" rIns="0" bIns="0" rtlCol="0" anchor="t"/>
          <a:lstStyle/>
          <a:p>
            <a:pPr marL="0" indent="0" algn="l">
              <a:lnSpc>
                <a:spcPts val="3850"/>
              </a:lnSpc>
              <a:buNone/>
            </a:pPr>
            <a:r>
              <a:rPr lang="en-US" sz="2800" b="1" dirty="0">
                <a:latin typeface="Times New Roman" panose="02020603050405020304" pitchFamily="18" charset="0"/>
                <a:cs typeface="Times New Roman" panose="02020603050405020304" pitchFamily="18" charset="0"/>
              </a:rPr>
              <a:t>IMPLEMENTATION</a:t>
            </a:r>
          </a:p>
        </p:txBody>
      </p:sp>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3265" y="1722751"/>
            <a:ext cx="626977" cy="626977"/>
          </a:xfrm>
          <a:prstGeom prst="rect">
            <a:avLst/>
          </a:prstGeom>
        </p:spPr>
      </p:pic>
      <p:sp>
        <p:nvSpPr>
          <p:cNvPr id="5" name="Text 1"/>
          <p:cNvSpPr/>
          <p:nvPr/>
        </p:nvSpPr>
        <p:spPr>
          <a:xfrm>
            <a:off x="1774845" y="1616143"/>
            <a:ext cx="1957149" cy="244673"/>
          </a:xfrm>
          <a:prstGeom prst="rect">
            <a:avLst/>
          </a:prstGeom>
          <a:noFill/>
          <a:ln/>
        </p:spPr>
        <p:txBody>
          <a:bodyPr wrap="none" lIns="0" tIns="0" rIns="0" bIns="0" rtlCol="0" anchor="t"/>
          <a:lstStyle/>
          <a:p>
            <a:pPr marL="0" indent="0" algn="l">
              <a:lnSpc>
                <a:spcPts val="1900"/>
              </a:lnSpc>
              <a:buNone/>
            </a:pPr>
            <a:r>
              <a:rPr lang="en-US" b="1" dirty="0">
                <a:latin typeface="Times New Roman" panose="02020603050405020304" pitchFamily="18" charset="0"/>
                <a:ea typeface="MuseoModerno Medium" pitchFamily="34" charset="-122"/>
                <a:cs typeface="Times New Roman" panose="02020603050405020304" pitchFamily="18" charset="0"/>
              </a:rPr>
              <a:t>Frontend</a:t>
            </a:r>
            <a:endParaRPr lang="en-US" b="1" dirty="0">
              <a:latin typeface="Times New Roman" panose="02020603050405020304" pitchFamily="18" charset="0"/>
              <a:cs typeface="Times New Roman" panose="02020603050405020304" pitchFamily="18" charset="0"/>
            </a:endParaRPr>
          </a:p>
        </p:txBody>
      </p:sp>
      <p:sp>
        <p:nvSpPr>
          <p:cNvPr id="6" name="Text 2"/>
          <p:cNvSpPr/>
          <p:nvPr/>
        </p:nvSpPr>
        <p:spPr>
          <a:xfrm>
            <a:off x="1774845" y="1924262"/>
            <a:ext cx="7891463" cy="223957"/>
          </a:xfrm>
          <a:prstGeom prst="rect">
            <a:avLst/>
          </a:prstGeom>
          <a:noFill/>
          <a:ln/>
        </p:spPr>
        <p:txBody>
          <a:bodyPr wrap="none" lIns="0" tIns="0" rIns="0" bIns="0" rtlCol="0" anchor="t"/>
          <a:lstStyle/>
          <a:p>
            <a:pPr marL="0" indent="0">
              <a:buNone/>
            </a:pPr>
            <a:r>
              <a:rPr lang="en-US" dirty="0">
                <a:latin typeface="Times New Roman" panose="02020603050405020304" pitchFamily="18" charset="0"/>
                <a:ea typeface="Source Sans 3" pitchFamily="34" charset="-122"/>
                <a:cs typeface="Times New Roman" panose="02020603050405020304" pitchFamily="18" charset="0"/>
              </a:rPr>
              <a:t>HTML, CSS, and JavaScript deliver a responsive, real-time monitoring</a:t>
            </a:r>
          </a:p>
          <a:p>
            <a:pPr marL="0" indent="0">
              <a:buNone/>
            </a:pPr>
            <a:r>
              <a:rPr lang="en-US" dirty="0">
                <a:latin typeface="Times New Roman" panose="02020603050405020304" pitchFamily="18" charset="0"/>
                <a:ea typeface="Source Sans 3" pitchFamily="34" charset="-122"/>
                <a:cs typeface="Times New Roman" panose="02020603050405020304" pitchFamily="18" charset="0"/>
              </a:rPr>
              <a:t> interface with charts and risk indicators</a:t>
            </a:r>
            <a:r>
              <a:rPr lang="en-US" sz="1200" dirty="0">
                <a:solidFill>
                  <a:srgbClr val="2B4150"/>
                </a:solidFill>
                <a:latin typeface="Source Sans 3" pitchFamily="34" charset="0"/>
                <a:ea typeface="Source Sans 3" pitchFamily="34" charset="-122"/>
                <a:cs typeface="Source Sans 3" pitchFamily="34" charset="-120"/>
              </a:rPr>
              <a:t>.</a:t>
            </a:r>
            <a:endParaRPr lang="en-US" sz="12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264" y="3487823"/>
            <a:ext cx="626977" cy="626977"/>
          </a:xfrm>
          <a:prstGeom prst="rect">
            <a:avLst/>
          </a:prstGeom>
        </p:spPr>
      </p:pic>
      <p:sp>
        <p:nvSpPr>
          <p:cNvPr id="8" name="Text 3"/>
          <p:cNvSpPr/>
          <p:nvPr/>
        </p:nvSpPr>
        <p:spPr>
          <a:xfrm>
            <a:off x="1774845" y="3248355"/>
            <a:ext cx="1957149" cy="244673"/>
          </a:xfrm>
          <a:prstGeom prst="rect">
            <a:avLst/>
          </a:prstGeom>
          <a:noFill/>
          <a:ln/>
        </p:spPr>
        <p:txBody>
          <a:bodyPr wrap="none" lIns="0" tIns="0" rIns="0" bIns="0" rtlCol="0" anchor="t"/>
          <a:lstStyle/>
          <a:p>
            <a:pPr marL="0" indent="0" algn="l">
              <a:lnSpc>
                <a:spcPts val="1900"/>
              </a:lnSpc>
              <a:buNone/>
            </a:pPr>
            <a:r>
              <a:rPr lang="en-US" b="1" dirty="0">
                <a:latin typeface="Times New Roman" panose="02020603050405020304" pitchFamily="18" charset="0"/>
                <a:ea typeface="MuseoModerno Medium" pitchFamily="34" charset="-122"/>
                <a:cs typeface="Times New Roman" panose="02020603050405020304" pitchFamily="18" charset="0"/>
              </a:rPr>
              <a:t>Backend</a:t>
            </a:r>
            <a:endParaRPr lang="en-US" b="1" dirty="0">
              <a:latin typeface="Times New Roman" panose="02020603050405020304" pitchFamily="18" charset="0"/>
              <a:cs typeface="Times New Roman" panose="02020603050405020304" pitchFamily="18" charset="0"/>
            </a:endParaRPr>
          </a:p>
        </p:txBody>
      </p:sp>
      <p:sp>
        <p:nvSpPr>
          <p:cNvPr id="9" name="Text 4"/>
          <p:cNvSpPr/>
          <p:nvPr/>
        </p:nvSpPr>
        <p:spPr>
          <a:xfrm>
            <a:off x="1774845" y="3593465"/>
            <a:ext cx="7891463" cy="223957"/>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Python with Flask handles request processing, module communication,</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 and RESTful API data exchange.</a:t>
            </a:r>
            <a:endParaRPr lang="en-US"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3264" y="5098225"/>
            <a:ext cx="626977" cy="626977"/>
          </a:xfrm>
          <a:prstGeom prst="rect">
            <a:avLst/>
          </a:prstGeom>
        </p:spPr>
      </p:pic>
      <p:sp>
        <p:nvSpPr>
          <p:cNvPr id="11" name="Text 5"/>
          <p:cNvSpPr/>
          <p:nvPr/>
        </p:nvSpPr>
        <p:spPr>
          <a:xfrm>
            <a:off x="1731838" y="4853553"/>
            <a:ext cx="1957149" cy="244673"/>
          </a:xfrm>
          <a:prstGeom prst="rect">
            <a:avLst/>
          </a:prstGeom>
          <a:noFill/>
          <a:ln/>
        </p:spPr>
        <p:txBody>
          <a:bodyPr wrap="none" lIns="0" tIns="0" rIns="0" bIns="0" rtlCol="0" anchor="t"/>
          <a:lstStyle/>
          <a:p>
            <a:pPr marL="0" indent="0" algn="l">
              <a:lnSpc>
                <a:spcPts val="1900"/>
              </a:lnSpc>
              <a:buNone/>
            </a:pPr>
            <a:r>
              <a:rPr lang="en-US" b="1" dirty="0">
                <a:latin typeface="Times New Roman" panose="02020603050405020304" pitchFamily="18" charset="0"/>
                <a:ea typeface="MuseoModerno Medium" pitchFamily="34" charset="-122"/>
                <a:cs typeface="Times New Roman" panose="02020603050405020304" pitchFamily="18" charset="0"/>
              </a:rPr>
              <a:t>Data Storage</a:t>
            </a:r>
            <a:endParaRPr lang="en-US" b="1" dirty="0">
              <a:latin typeface="Times New Roman" panose="02020603050405020304" pitchFamily="18" charset="0"/>
              <a:cs typeface="Times New Roman" panose="02020603050405020304" pitchFamily="18" charset="0"/>
            </a:endParaRPr>
          </a:p>
        </p:txBody>
      </p:sp>
      <p:sp>
        <p:nvSpPr>
          <p:cNvPr id="12" name="Text 6"/>
          <p:cNvSpPr/>
          <p:nvPr/>
        </p:nvSpPr>
        <p:spPr>
          <a:xfrm>
            <a:off x="1742989" y="5199845"/>
            <a:ext cx="7891463" cy="223957"/>
          </a:xfrm>
          <a:prstGeom prst="rect">
            <a:avLst/>
          </a:prstGeom>
          <a:noFill/>
          <a:ln/>
        </p:spPr>
        <p:txBody>
          <a:bodyPr wrap="non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MongoDB optionally integrated for structured audit log storage and </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long-term system data management.</a:t>
            </a:r>
            <a:endParaRPr lang="en-US"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3264" y="6596296"/>
            <a:ext cx="626977" cy="626977"/>
          </a:xfrm>
          <a:prstGeom prst="rect">
            <a:avLst/>
          </a:prstGeom>
        </p:spPr>
      </p:pic>
      <p:sp>
        <p:nvSpPr>
          <p:cNvPr id="14" name="Text 7"/>
          <p:cNvSpPr/>
          <p:nvPr/>
        </p:nvSpPr>
        <p:spPr>
          <a:xfrm>
            <a:off x="1731837" y="6473202"/>
            <a:ext cx="1957149" cy="244673"/>
          </a:xfrm>
          <a:prstGeom prst="rect">
            <a:avLst/>
          </a:prstGeom>
          <a:noFill/>
          <a:ln/>
        </p:spPr>
        <p:txBody>
          <a:bodyPr wrap="none" lIns="0" tIns="0" rIns="0" bIns="0" rtlCol="0" anchor="t"/>
          <a:lstStyle/>
          <a:p>
            <a:pPr marL="0" indent="0" algn="l">
              <a:lnSpc>
                <a:spcPts val="1900"/>
              </a:lnSpc>
              <a:buNone/>
            </a:pPr>
            <a:r>
              <a:rPr lang="en-US" b="1" dirty="0">
                <a:latin typeface="Times New Roman" panose="02020603050405020304" pitchFamily="18" charset="0"/>
                <a:ea typeface="MuseoModerno Medium" pitchFamily="34" charset="-122"/>
                <a:cs typeface="Times New Roman" panose="02020603050405020304" pitchFamily="18" charset="0"/>
              </a:rPr>
              <a:t>Modular Design</a:t>
            </a:r>
            <a:endParaRPr lang="en-US" b="1" dirty="0">
              <a:latin typeface="Times New Roman" panose="02020603050405020304" pitchFamily="18" charset="0"/>
              <a:cs typeface="Times New Roman" panose="02020603050405020304" pitchFamily="18" charset="0"/>
            </a:endParaRPr>
          </a:p>
        </p:txBody>
      </p:sp>
      <p:sp>
        <p:nvSpPr>
          <p:cNvPr id="15" name="Text 8"/>
          <p:cNvSpPr/>
          <p:nvPr/>
        </p:nvSpPr>
        <p:spPr>
          <a:xfrm>
            <a:off x="1742988" y="6800199"/>
            <a:ext cx="7891463" cy="447913"/>
          </a:xfrm>
          <a:prstGeom prst="rect">
            <a:avLst/>
          </a:prstGeom>
          <a:noFill/>
          <a:ln/>
        </p:spPr>
        <p:txBody>
          <a:bodyPr wrap="square" lIns="0" tIns="0" rIns="0" bIns="0" rtlCol="0" anchor="t"/>
          <a:lstStyle/>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Each component — detection, scoring, logging — is independent yet</a:t>
            </a:r>
          </a:p>
          <a:p>
            <a:pPr marL="0" indent="0" algn="l">
              <a:buNone/>
            </a:pPr>
            <a:r>
              <a:rPr lang="en-US" dirty="0">
                <a:latin typeface="Times New Roman" panose="02020603050405020304" pitchFamily="18" charset="0"/>
                <a:ea typeface="Source Sans 3" pitchFamily="34" charset="-122"/>
                <a:cs typeface="Times New Roman" panose="02020603050405020304" pitchFamily="18" charset="0"/>
              </a:rPr>
              <a:t> interconnected, simplifying maintenance and future upgrades.</a:t>
            </a:r>
            <a:endParaRPr lang="en-US" dirty="0">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A424EE2D-467E-BBB6-7F06-4AC338F4F94F}"/>
              </a:ext>
            </a:extLst>
          </p:cNvPr>
          <p:cNvGraphicFramePr>
            <a:graphicFrameLocks noGrp="1"/>
          </p:cNvGraphicFramePr>
          <p:nvPr>
            <p:extLst>
              <p:ext uri="{D42A27DB-BD31-4B8C-83A1-F6EECF244321}">
                <p14:modId xmlns:p14="http://schemas.microsoft.com/office/powerpoint/2010/main" val="1082986262"/>
              </p:ext>
            </p:extLst>
          </p:nvPr>
        </p:nvGraphicFramePr>
        <p:xfrm>
          <a:off x="1551818" y="1381373"/>
          <a:ext cx="7649737" cy="1260088"/>
        </p:xfrm>
        <a:graphic>
          <a:graphicData uri="http://schemas.openxmlformats.org/drawingml/2006/table">
            <a:tbl>
              <a:tblPr/>
              <a:tblGrid>
                <a:gridCol w="7649737">
                  <a:extLst>
                    <a:ext uri="{9D8B030D-6E8A-4147-A177-3AD203B41FA5}">
                      <a16:colId xmlns:a16="http://schemas.microsoft.com/office/drawing/2014/main" val="83761120"/>
                    </a:ext>
                  </a:extLst>
                </a:gridCol>
              </a:tblGrid>
              <a:tr h="1260088">
                <a:tc>
                  <a:txBody>
                    <a:bodyPr/>
                    <a:lstStyle/>
                    <a:p>
                      <a:endParaRPr lang="en-IN" dirty="0">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9926691"/>
                  </a:ext>
                </a:extLst>
              </a:tr>
            </a:tbl>
          </a:graphicData>
        </a:graphic>
      </p:graphicFrame>
      <p:graphicFrame>
        <p:nvGraphicFramePr>
          <p:cNvPr id="17" name="Table 16">
            <a:extLst>
              <a:ext uri="{FF2B5EF4-FFF2-40B4-BE49-F238E27FC236}">
                <a16:creationId xmlns:a16="http://schemas.microsoft.com/office/drawing/2014/main" id="{D7146260-797F-466A-6CED-C7A12CE52591}"/>
              </a:ext>
            </a:extLst>
          </p:cNvPr>
          <p:cNvGraphicFramePr>
            <a:graphicFrameLocks noGrp="1"/>
          </p:cNvGraphicFramePr>
          <p:nvPr>
            <p:extLst>
              <p:ext uri="{D42A27DB-BD31-4B8C-83A1-F6EECF244321}">
                <p14:modId xmlns:p14="http://schemas.microsoft.com/office/powerpoint/2010/main" val="4274443446"/>
              </p:ext>
            </p:extLst>
          </p:nvPr>
        </p:nvGraphicFramePr>
        <p:xfrm>
          <a:off x="1551819" y="3091612"/>
          <a:ext cx="7649737" cy="1260088"/>
        </p:xfrm>
        <a:graphic>
          <a:graphicData uri="http://schemas.openxmlformats.org/drawingml/2006/table">
            <a:tbl>
              <a:tblPr/>
              <a:tblGrid>
                <a:gridCol w="7649737">
                  <a:extLst>
                    <a:ext uri="{9D8B030D-6E8A-4147-A177-3AD203B41FA5}">
                      <a16:colId xmlns:a16="http://schemas.microsoft.com/office/drawing/2014/main" val="83761120"/>
                    </a:ext>
                  </a:extLst>
                </a:gridCol>
              </a:tblGrid>
              <a:tr h="1260088">
                <a:tc>
                  <a:txBody>
                    <a:bodyPr/>
                    <a:lstStyle/>
                    <a:p>
                      <a:endParaRPr lang="en-IN" dirty="0">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9926691"/>
                  </a:ext>
                </a:extLst>
              </a:tr>
            </a:tbl>
          </a:graphicData>
        </a:graphic>
      </p:graphicFrame>
      <p:graphicFrame>
        <p:nvGraphicFramePr>
          <p:cNvPr id="18" name="Table 17">
            <a:extLst>
              <a:ext uri="{FF2B5EF4-FFF2-40B4-BE49-F238E27FC236}">
                <a16:creationId xmlns:a16="http://schemas.microsoft.com/office/drawing/2014/main" id="{AA6A2BB2-CBA0-EC80-1D3E-7823B4B8A6DF}"/>
              </a:ext>
            </a:extLst>
          </p:cNvPr>
          <p:cNvGraphicFramePr>
            <a:graphicFrameLocks noGrp="1"/>
          </p:cNvGraphicFramePr>
          <p:nvPr>
            <p:extLst>
              <p:ext uri="{D42A27DB-BD31-4B8C-83A1-F6EECF244321}">
                <p14:modId xmlns:p14="http://schemas.microsoft.com/office/powerpoint/2010/main" val="2211208854"/>
              </p:ext>
            </p:extLst>
          </p:nvPr>
        </p:nvGraphicFramePr>
        <p:xfrm>
          <a:off x="1570457" y="4717725"/>
          <a:ext cx="7649737" cy="1260088"/>
        </p:xfrm>
        <a:graphic>
          <a:graphicData uri="http://schemas.openxmlformats.org/drawingml/2006/table">
            <a:tbl>
              <a:tblPr/>
              <a:tblGrid>
                <a:gridCol w="7649737">
                  <a:extLst>
                    <a:ext uri="{9D8B030D-6E8A-4147-A177-3AD203B41FA5}">
                      <a16:colId xmlns:a16="http://schemas.microsoft.com/office/drawing/2014/main" val="83761120"/>
                    </a:ext>
                  </a:extLst>
                </a:gridCol>
              </a:tblGrid>
              <a:tr h="1260088">
                <a:tc>
                  <a:txBody>
                    <a:bodyPr/>
                    <a:lstStyle/>
                    <a:p>
                      <a:r>
                        <a:rPr lang="en-IN" dirty="0">
                          <a:latin typeface="Times New Roman" panose="02020603050405020304" pitchFamily="18" charset="0"/>
                          <a:cs typeface="Times New Roman" panose="02020603050405020304" pitchFamily="18" charset="0"/>
                        </a:rPr>
                        <a:t>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9926691"/>
                  </a:ext>
                </a:extLst>
              </a:tr>
            </a:tbl>
          </a:graphicData>
        </a:graphic>
      </p:graphicFrame>
      <p:graphicFrame>
        <p:nvGraphicFramePr>
          <p:cNvPr id="19" name="Table 18">
            <a:extLst>
              <a:ext uri="{FF2B5EF4-FFF2-40B4-BE49-F238E27FC236}">
                <a16:creationId xmlns:a16="http://schemas.microsoft.com/office/drawing/2014/main" id="{4596967A-5B4A-B461-928E-C4CAE9CCA612}"/>
              </a:ext>
            </a:extLst>
          </p:cNvPr>
          <p:cNvGraphicFramePr>
            <a:graphicFrameLocks noGrp="1"/>
          </p:cNvGraphicFramePr>
          <p:nvPr>
            <p:extLst>
              <p:ext uri="{D42A27DB-BD31-4B8C-83A1-F6EECF244321}">
                <p14:modId xmlns:p14="http://schemas.microsoft.com/office/powerpoint/2010/main" val="3997464815"/>
              </p:ext>
            </p:extLst>
          </p:nvPr>
        </p:nvGraphicFramePr>
        <p:xfrm>
          <a:off x="1570457" y="6343838"/>
          <a:ext cx="7649737" cy="1260088"/>
        </p:xfrm>
        <a:graphic>
          <a:graphicData uri="http://schemas.openxmlformats.org/drawingml/2006/table">
            <a:tbl>
              <a:tblPr/>
              <a:tblGrid>
                <a:gridCol w="7649737">
                  <a:extLst>
                    <a:ext uri="{9D8B030D-6E8A-4147-A177-3AD203B41FA5}">
                      <a16:colId xmlns:a16="http://schemas.microsoft.com/office/drawing/2014/main" val="83761120"/>
                    </a:ext>
                  </a:extLst>
                </a:gridCol>
              </a:tblGrid>
              <a:tr h="1260088">
                <a:tc>
                  <a:txBody>
                    <a:bodyPr/>
                    <a:lstStyle/>
                    <a:p>
                      <a:endParaRPr lang="en-IN" dirty="0">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992669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0808" y="477322"/>
            <a:ext cx="4266486" cy="533162"/>
          </a:xfrm>
          <a:prstGeom prst="rect">
            <a:avLst/>
          </a:prstGeom>
          <a:noFill/>
          <a:ln/>
        </p:spPr>
        <p:txBody>
          <a:bodyPr wrap="none" lIns="0" tIns="0" rIns="0" bIns="0" rtlCol="0" anchor="t"/>
          <a:lstStyle/>
          <a:p>
            <a:pPr marL="0" indent="0" algn="l">
              <a:lnSpc>
                <a:spcPts val="4150"/>
              </a:lnSpc>
              <a:buNone/>
            </a:pPr>
            <a:r>
              <a:rPr lang="en-US" sz="2800" b="1" dirty="0">
                <a:latin typeface="Times New Roman" panose="02020603050405020304" pitchFamily="18" charset="0"/>
                <a:cs typeface="Times New Roman" panose="02020603050405020304" pitchFamily="18" charset="0"/>
              </a:rPr>
              <a:t>RESULTS</a:t>
            </a:r>
          </a:p>
        </p:txBody>
      </p:sp>
      <p:sp>
        <p:nvSpPr>
          <p:cNvPr id="3" name="Text 1"/>
          <p:cNvSpPr/>
          <p:nvPr/>
        </p:nvSpPr>
        <p:spPr>
          <a:xfrm>
            <a:off x="750808" y="1085485"/>
            <a:ext cx="13265229" cy="507683"/>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CAD was tested using simulated user inputs representing both normal and suspicious behavior. </a:t>
            </a:r>
          </a:p>
          <a:p>
            <a:pPr marL="285750" indent="-285750" algn="l">
              <a:lnSpc>
                <a:spcPct val="1500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The system accurately flagged high-risk events while minimizing false alerts for legitimate activity</a:t>
            </a:r>
            <a:r>
              <a:rPr lang="en-US" sz="1300" dirty="0">
                <a:solidFill>
                  <a:srgbClr val="2B4150"/>
                </a:solidFill>
                <a:latin typeface="Source Sans 3" pitchFamily="34" charset="0"/>
                <a:ea typeface="Source Sans 3" pitchFamily="34" charset="-122"/>
                <a:cs typeface="Source Sans 3" pitchFamily="34" charset="-120"/>
              </a:rPr>
              <a:t>.</a:t>
            </a:r>
            <a:endParaRPr lang="en-US" sz="1300" dirty="0"/>
          </a:p>
        </p:txBody>
      </p:sp>
      <p:sp>
        <p:nvSpPr>
          <p:cNvPr id="4" name="Text 2"/>
          <p:cNvSpPr/>
          <p:nvPr/>
        </p:nvSpPr>
        <p:spPr>
          <a:xfrm>
            <a:off x="682585" y="2061924"/>
            <a:ext cx="4299466" cy="563166"/>
          </a:xfrm>
          <a:prstGeom prst="rect">
            <a:avLst/>
          </a:prstGeom>
          <a:noFill/>
          <a:ln/>
        </p:spPr>
        <p:txBody>
          <a:bodyPr wrap="none" lIns="0" tIns="0" rIns="0" bIns="0" rtlCol="0" anchor="t"/>
          <a:lstStyle/>
          <a:p>
            <a:pPr marL="0" indent="0" algn="ctr">
              <a:lnSpc>
                <a:spcPts val="4400"/>
              </a:lnSpc>
              <a:buNone/>
            </a:pPr>
            <a:r>
              <a:rPr lang="en-US" sz="2800" b="1" dirty="0">
                <a:latin typeface="Times New Roman" panose="02020603050405020304" pitchFamily="18" charset="0"/>
                <a:ea typeface="MuseoModerno Medium" pitchFamily="34" charset="-122"/>
                <a:cs typeface="Times New Roman" panose="02020603050405020304" pitchFamily="18" charset="0"/>
              </a:rPr>
              <a:t>247</a:t>
            </a:r>
            <a:endParaRPr lang="en-US" sz="2800" b="1" dirty="0">
              <a:latin typeface="Times New Roman" panose="02020603050405020304" pitchFamily="18" charset="0"/>
              <a:cs typeface="Times New Roman" panose="02020603050405020304" pitchFamily="18" charset="0"/>
            </a:endParaRPr>
          </a:p>
        </p:txBody>
      </p:sp>
      <p:sp>
        <p:nvSpPr>
          <p:cNvPr id="5" name="Text 3"/>
          <p:cNvSpPr/>
          <p:nvPr/>
        </p:nvSpPr>
        <p:spPr>
          <a:xfrm>
            <a:off x="1773316" y="2588861"/>
            <a:ext cx="2133243" cy="266700"/>
          </a:xfrm>
          <a:prstGeom prst="rect">
            <a:avLst/>
          </a:prstGeom>
          <a:noFill/>
          <a:ln/>
        </p:spPr>
        <p:txBody>
          <a:bodyPr wrap="none" lIns="0" tIns="0" rIns="0" bIns="0" rtlCol="0" anchor="t"/>
          <a:lstStyle/>
          <a:p>
            <a:pPr marL="0" indent="0" algn="ctr">
              <a:lnSpc>
                <a:spcPts val="2050"/>
              </a:lnSpc>
              <a:buNone/>
            </a:pPr>
            <a:r>
              <a:rPr lang="en-US" dirty="0">
                <a:latin typeface="Times New Roman" panose="02020603050405020304" pitchFamily="18" charset="0"/>
                <a:ea typeface="MuseoModerno Medium" pitchFamily="34" charset="-122"/>
                <a:cs typeface="Times New Roman" panose="02020603050405020304" pitchFamily="18" charset="0"/>
              </a:rPr>
              <a:t>Events Analyzed</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750808" y="2908213"/>
            <a:ext cx="4299466" cy="253841"/>
          </a:xfrm>
          <a:prstGeom prst="rect">
            <a:avLst/>
          </a:prstGeom>
          <a:noFill/>
          <a:ln/>
        </p:spPr>
        <p:txBody>
          <a:bodyPr wrap="none" lIns="0" tIns="0" rIns="0" bIns="0" rtlCol="0" anchor="t"/>
          <a:lstStyle/>
          <a:p>
            <a:pPr marL="0" indent="0" algn="ctr">
              <a:lnSpc>
                <a:spcPts val="1950"/>
              </a:lnSpc>
              <a:buNone/>
            </a:pPr>
            <a:r>
              <a:rPr lang="en-US" dirty="0">
                <a:latin typeface="Times New Roman" panose="02020603050405020304" pitchFamily="18" charset="0"/>
                <a:ea typeface="Source Sans 3" pitchFamily="34" charset="-122"/>
                <a:cs typeface="Times New Roman" panose="02020603050405020304" pitchFamily="18" charset="0"/>
              </a:rPr>
              <a:t>Total events processed during testing</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165408" y="2061924"/>
            <a:ext cx="4299466" cy="563166"/>
          </a:xfrm>
          <a:prstGeom prst="rect">
            <a:avLst/>
          </a:prstGeom>
          <a:noFill/>
          <a:ln/>
        </p:spPr>
        <p:txBody>
          <a:bodyPr wrap="none" lIns="0" tIns="0" rIns="0" bIns="0" rtlCol="0" anchor="t"/>
          <a:lstStyle/>
          <a:p>
            <a:pPr marL="0" indent="0" algn="ctr">
              <a:lnSpc>
                <a:spcPts val="4400"/>
              </a:lnSpc>
              <a:buNone/>
            </a:pPr>
            <a:r>
              <a:rPr lang="en-US" sz="2800" b="1" dirty="0">
                <a:latin typeface="Times New Roman" panose="02020603050405020304" pitchFamily="18" charset="0"/>
                <a:ea typeface="MuseoModerno Medium" pitchFamily="34" charset="-122"/>
                <a:cs typeface="Times New Roman" panose="02020603050405020304" pitchFamily="18" charset="0"/>
              </a:rPr>
              <a:t>12</a:t>
            </a:r>
            <a:endParaRPr lang="en-US" sz="2800" b="1" dirty="0">
              <a:latin typeface="Times New Roman" panose="02020603050405020304" pitchFamily="18" charset="0"/>
              <a:cs typeface="Times New Roman" panose="02020603050405020304" pitchFamily="18" charset="0"/>
            </a:endParaRPr>
          </a:p>
        </p:txBody>
      </p:sp>
      <p:sp>
        <p:nvSpPr>
          <p:cNvPr id="8" name="Text 6"/>
          <p:cNvSpPr/>
          <p:nvPr/>
        </p:nvSpPr>
        <p:spPr>
          <a:xfrm>
            <a:off x="6316800" y="2623409"/>
            <a:ext cx="2133243" cy="266700"/>
          </a:xfrm>
          <a:prstGeom prst="rect">
            <a:avLst/>
          </a:prstGeom>
          <a:noFill/>
          <a:ln/>
        </p:spPr>
        <p:txBody>
          <a:bodyPr wrap="none" lIns="0" tIns="0" rIns="0" bIns="0" rtlCol="0" anchor="t"/>
          <a:lstStyle/>
          <a:p>
            <a:pPr marL="0" indent="0" algn="ctr">
              <a:lnSpc>
                <a:spcPts val="2050"/>
              </a:lnSpc>
              <a:buNone/>
            </a:pPr>
            <a:r>
              <a:rPr lang="en-US" dirty="0">
                <a:latin typeface="Times New Roman" panose="02020603050405020304" pitchFamily="18" charset="0"/>
                <a:ea typeface="MuseoModerno Medium" pitchFamily="34" charset="-122"/>
                <a:cs typeface="Times New Roman" panose="02020603050405020304" pitchFamily="18" charset="0"/>
              </a:rPr>
              <a:t>Functions Detected</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5233690" y="2916307"/>
            <a:ext cx="4299466" cy="253841"/>
          </a:xfrm>
          <a:prstGeom prst="rect">
            <a:avLst/>
          </a:prstGeom>
          <a:noFill/>
          <a:ln/>
        </p:spPr>
        <p:txBody>
          <a:bodyPr wrap="none" lIns="0" tIns="0" rIns="0" bIns="0" rtlCol="0" anchor="t"/>
          <a:lstStyle/>
          <a:p>
            <a:pPr marL="0" indent="0" algn="ctr">
              <a:lnSpc>
                <a:spcPts val="1950"/>
              </a:lnSpc>
              <a:buNone/>
            </a:pPr>
            <a:r>
              <a:rPr lang="en-US" dirty="0">
                <a:latin typeface="Times New Roman" panose="02020603050405020304" pitchFamily="18" charset="0"/>
                <a:ea typeface="Source Sans 3" pitchFamily="34" charset="-122"/>
                <a:cs typeface="Times New Roman" panose="02020603050405020304" pitchFamily="18" charset="0"/>
              </a:rPr>
              <a:t>Anomalous activities correctly identified</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9648230" y="2093929"/>
            <a:ext cx="4299466" cy="563166"/>
          </a:xfrm>
          <a:prstGeom prst="rect">
            <a:avLst/>
          </a:prstGeom>
          <a:noFill/>
          <a:ln/>
        </p:spPr>
        <p:txBody>
          <a:bodyPr wrap="none" lIns="0" tIns="0" rIns="0" bIns="0" rtlCol="0" anchor="t"/>
          <a:lstStyle/>
          <a:p>
            <a:pPr marL="0" indent="0" algn="ctr">
              <a:lnSpc>
                <a:spcPts val="4400"/>
              </a:lnSpc>
              <a:buNone/>
            </a:pPr>
            <a:r>
              <a:rPr lang="en-US" sz="2800" b="1" dirty="0">
                <a:latin typeface="Times New Roman" panose="02020603050405020304" pitchFamily="18" charset="0"/>
                <a:ea typeface="MuseoModerno Medium" pitchFamily="34" charset="-122"/>
                <a:cs typeface="Times New Roman" panose="02020603050405020304" pitchFamily="18" charset="0"/>
              </a:rPr>
              <a:t>99.2%</a:t>
            </a:r>
            <a:endParaRPr lang="en-US" sz="2800" b="1" dirty="0">
              <a:latin typeface="Times New Roman" panose="02020603050405020304" pitchFamily="18" charset="0"/>
              <a:cs typeface="Times New Roman" panose="02020603050405020304" pitchFamily="18" charset="0"/>
            </a:endParaRPr>
          </a:p>
        </p:txBody>
      </p:sp>
      <p:sp>
        <p:nvSpPr>
          <p:cNvPr id="11" name="Text 9"/>
          <p:cNvSpPr/>
          <p:nvPr/>
        </p:nvSpPr>
        <p:spPr>
          <a:xfrm>
            <a:off x="10731341" y="2656189"/>
            <a:ext cx="2133243" cy="266700"/>
          </a:xfrm>
          <a:prstGeom prst="rect">
            <a:avLst/>
          </a:prstGeom>
          <a:noFill/>
          <a:ln/>
        </p:spPr>
        <p:txBody>
          <a:bodyPr wrap="none" lIns="0" tIns="0" rIns="0" bIns="0" rtlCol="0" anchor="t"/>
          <a:lstStyle/>
          <a:p>
            <a:pPr marL="0" indent="0" algn="ctr">
              <a:lnSpc>
                <a:spcPts val="2050"/>
              </a:lnSpc>
              <a:buNone/>
            </a:pPr>
            <a:r>
              <a:rPr lang="en-US" dirty="0">
                <a:latin typeface="Times New Roman" panose="02020603050405020304" pitchFamily="18" charset="0"/>
                <a:ea typeface="MuseoModerno Medium" pitchFamily="34" charset="-122"/>
                <a:cs typeface="Times New Roman" panose="02020603050405020304" pitchFamily="18" charset="0"/>
              </a:rPr>
              <a:t>System Uptime</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9716572" y="2918670"/>
            <a:ext cx="4299466" cy="253841"/>
          </a:xfrm>
          <a:prstGeom prst="rect">
            <a:avLst/>
          </a:prstGeom>
          <a:noFill/>
          <a:ln/>
        </p:spPr>
        <p:txBody>
          <a:bodyPr wrap="none" lIns="0" tIns="0" rIns="0" bIns="0" rtlCol="0" anchor="t"/>
          <a:lstStyle/>
          <a:p>
            <a:pPr marL="0" indent="0" algn="ctr">
              <a:lnSpc>
                <a:spcPts val="1950"/>
              </a:lnSpc>
              <a:buNone/>
            </a:pPr>
            <a:r>
              <a:rPr lang="en-US" dirty="0">
                <a:latin typeface="Times New Roman" panose="02020603050405020304" pitchFamily="18" charset="0"/>
                <a:ea typeface="Source Sans 3" pitchFamily="34" charset="-122"/>
                <a:cs typeface="Times New Roman" panose="02020603050405020304" pitchFamily="18" charset="0"/>
              </a:rPr>
              <a:t>Reliable real-time performance &amp; evaluation</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09016" y="3559364"/>
            <a:ext cx="13265229" cy="507683"/>
          </a:xfrm>
          <a:prstGeom prst="rect">
            <a:avLst/>
          </a:prstGeom>
          <a:noFill/>
          <a:ln/>
        </p:spPr>
        <p:txBody>
          <a:bodyPr wrap="square" lIns="0" tIns="0" rIns="0" bIns="0" rtlCol="0" anchor="t"/>
          <a:lstStyle/>
          <a:p>
            <a:pPr marL="285750" indent="-285750" algn="l">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Below are screenshots from the live CAD dashboard demonstrating the home view, anomaly detection, brute force login detection (risk score: </a:t>
            </a:r>
            <a:r>
              <a:rPr lang="en-US" b="1" dirty="0">
                <a:latin typeface="Times New Roman" panose="02020603050405020304" pitchFamily="18" charset="0"/>
                <a:ea typeface="Source Sans 3" pitchFamily="34" charset="-122"/>
                <a:cs typeface="Times New Roman" panose="02020603050405020304" pitchFamily="18" charset="0"/>
              </a:rPr>
              <a:t>73 — High Risk</a:t>
            </a:r>
            <a:r>
              <a:rPr lang="en-US" dirty="0">
                <a:latin typeface="Times New Roman" panose="02020603050405020304" pitchFamily="18" charset="0"/>
                <a:ea typeface="Source Sans 3" pitchFamily="34" charset="-122"/>
                <a:cs typeface="Times New Roman" panose="02020603050405020304" pitchFamily="18" charset="0"/>
              </a:rPr>
              <a:t>), and normal file access (risk score: </a:t>
            </a:r>
            <a:r>
              <a:rPr lang="en-US" b="1" dirty="0">
                <a:latin typeface="Times New Roman" panose="02020603050405020304" pitchFamily="18" charset="0"/>
                <a:ea typeface="Source Sans 3" pitchFamily="34" charset="-122"/>
                <a:cs typeface="Times New Roman" panose="02020603050405020304" pitchFamily="18" charset="0"/>
              </a:rPr>
              <a:t>33 — Low Risk</a:t>
            </a:r>
            <a:r>
              <a:rPr lang="en-US" dirty="0">
                <a:latin typeface="Times New Roman" panose="02020603050405020304" pitchFamily="18" charset="0"/>
                <a:ea typeface="Source Sans 3"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86E592E6-0FF2-22C1-7B63-3A4F3C1304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0335" y="5120572"/>
            <a:ext cx="4994610" cy="2780771"/>
          </a:xfrm>
          <a:prstGeom prst="rect">
            <a:avLst/>
          </a:prstGeom>
        </p:spPr>
      </p:pic>
      <p:sp>
        <p:nvSpPr>
          <p:cNvPr id="20" name="TextBox 19">
            <a:extLst>
              <a:ext uri="{FF2B5EF4-FFF2-40B4-BE49-F238E27FC236}">
                <a16:creationId xmlns:a16="http://schemas.microsoft.com/office/drawing/2014/main" id="{2D96132C-4455-AD4C-B1A2-EC8966A8DD03}"/>
              </a:ext>
            </a:extLst>
          </p:cNvPr>
          <p:cNvSpPr txBox="1"/>
          <p:nvPr/>
        </p:nvSpPr>
        <p:spPr>
          <a:xfrm>
            <a:off x="851125" y="4544375"/>
            <a:ext cx="7315200" cy="523220"/>
          </a:xfrm>
          <a:prstGeom prst="rect">
            <a:avLst/>
          </a:prstGeom>
          <a:noFill/>
        </p:spPr>
        <p:txBody>
          <a:bodyPr wrap="square">
            <a:spAutoFit/>
          </a:bodyPr>
          <a:lstStyle/>
          <a:p>
            <a:r>
              <a:rPr lang="en-IN" sz="2800" b="1" dirty="0">
                <a:effectLst/>
                <a:latin typeface="Times New Roman" panose="02020603050405020304" pitchFamily="18" charset="0"/>
                <a:ea typeface="Calibri" panose="020F0502020204030204" pitchFamily="34" charset="0"/>
              </a:rPr>
              <a:t>Home page :</a:t>
            </a:r>
            <a:endParaRPr lang="en-IN" sz="2800" dirty="0"/>
          </a:p>
        </p:txBody>
      </p:sp>
      <p:pic>
        <p:nvPicPr>
          <p:cNvPr id="21" name="Picture 20">
            <a:extLst>
              <a:ext uri="{FF2B5EF4-FFF2-40B4-BE49-F238E27FC236}">
                <a16:creationId xmlns:a16="http://schemas.microsoft.com/office/drawing/2014/main" id="{C4403F5B-C22F-7876-ABD7-167C6DCD83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57603" y="5067595"/>
            <a:ext cx="4994610" cy="2833747"/>
          </a:xfrm>
          <a:prstGeom prst="rect">
            <a:avLst/>
          </a:prstGeom>
        </p:spPr>
      </p:pic>
      <p:sp>
        <p:nvSpPr>
          <p:cNvPr id="23" name="TextBox 22">
            <a:extLst>
              <a:ext uri="{FF2B5EF4-FFF2-40B4-BE49-F238E27FC236}">
                <a16:creationId xmlns:a16="http://schemas.microsoft.com/office/drawing/2014/main" id="{BF3554C6-8D8D-82A7-FD9E-14ADAE794118}"/>
              </a:ext>
            </a:extLst>
          </p:cNvPr>
          <p:cNvSpPr txBox="1"/>
          <p:nvPr/>
        </p:nvSpPr>
        <p:spPr>
          <a:xfrm>
            <a:off x="7257603" y="4517137"/>
            <a:ext cx="7315200" cy="530594"/>
          </a:xfrm>
          <a:prstGeom prst="rect">
            <a:avLst/>
          </a:prstGeom>
          <a:noFill/>
        </p:spPr>
        <p:txBody>
          <a:bodyPr wrap="square">
            <a:spAutoFit/>
          </a:bodyPr>
          <a:lstStyle/>
          <a:p>
            <a:pPr>
              <a:lnSpc>
                <a:spcPct val="107000"/>
              </a:lnSpc>
              <a:spcAft>
                <a:spcPts val="800"/>
              </a:spcAft>
              <a:buNone/>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Anomaly Detection: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A9A3CD-AEF6-392C-172A-131DA95E37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820" y="1204332"/>
            <a:ext cx="4850780" cy="2910468"/>
          </a:xfrm>
          <a:prstGeom prst="rect">
            <a:avLst/>
          </a:prstGeom>
        </p:spPr>
      </p:pic>
      <p:sp>
        <p:nvSpPr>
          <p:cNvPr id="4" name="TextBox 3">
            <a:extLst>
              <a:ext uri="{FF2B5EF4-FFF2-40B4-BE49-F238E27FC236}">
                <a16:creationId xmlns:a16="http://schemas.microsoft.com/office/drawing/2014/main" id="{3E630443-736A-4D84-DBEE-E8B74D47978A}"/>
              </a:ext>
            </a:extLst>
          </p:cNvPr>
          <p:cNvSpPr txBox="1"/>
          <p:nvPr/>
        </p:nvSpPr>
        <p:spPr>
          <a:xfrm>
            <a:off x="992459" y="537791"/>
            <a:ext cx="7315200" cy="530594"/>
          </a:xfrm>
          <a:prstGeom prst="rect">
            <a:avLst/>
          </a:prstGeom>
          <a:noFill/>
        </p:spPr>
        <p:txBody>
          <a:bodyPr wrap="square">
            <a:spAutoFit/>
          </a:bodyPr>
          <a:lstStyle/>
          <a:p>
            <a:pPr algn="just">
              <a:lnSpc>
                <a:spcPct val="107000"/>
              </a:lnSpc>
              <a:spcAft>
                <a:spcPts val="800"/>
              </a:spcAft>
              <a:buNone/>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Brute Force Login: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CDF061A-F714-075B-3A37-772B017559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5200" y="1204333"/>
            <a:ext cx="4728117" cy="2910468"/>
          </a:xfrm>
          <a:prstGeom prst="rect">
            <a:avLst/>
          </a:prstGeom>
        </p:spPr>
      </p:pic>
      <p:sp>
        <p:nvSpPr>
          <p:cNvPr id="7" name="TextBox 6">
            <a:extLst>
              <a:ext uri="{FF2B5EF4-FFF2-40B4-BE49-F238E27FC236}">
                <a16:creationId xmlns:a16="http://schemas.microsoft.com/office/drawing/2014/main" id="{80CF216C-548D-9668-78BF-80D05999888E}"/>
              </a:ext>
            </a:extLst>
          </p:cNvPr>
          <p:cNvSpPr txBox="1"/>
          <p:nvPr/>
        </p:nvSpPr>
        <p:spPr>
          <a:xfrm>
            <a:off x="7203688" y="546126"/>
            <a:ext cx="7315200" cy="522259"/>
          </a:xfrm>
          <a:prstGeom prst="rect">
            <a:avLst/>
          </a:prstGeom>
          <a:noFill/>
        </p:spPr>
        <p:txBody>
          <a:bodyPr wrap="square">
            <a:spAutoFit/>
          </a:bodyPr>
          <a:lstStyle/>
          <a:p>
            <a:pPr algn="just">
              <a:lnSpc>
                <a:spcPct val="107000"/>
              </a:lnSpc>
              <a:spcAft>
                <a:spcPts val="800"/>
              </a:spcAft>
              <a:buNone/>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Normal File Access</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91A76410-C72F-0E5F-29B1-778672EF6B73}"/>
              </a:ext>
            </a:extLst>
          </p:cNvPr>
          <p:cNvSpPr>
            <a:spLocks noChangeArrowheads="1"/>
          </p:cNvSpPr>
          <p:nvPr/>
        </p:nvSpPr>
        <p:spPr bwMode="auto">
          <a:xfrm>
            <a:off x="1092820" y="4590062"/>
            <a:ext cx="10262168"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differentiate normal and suspicious behavior with good accuracy.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events like brute force login are flagged, while normal activities are marked as low risk.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framework supports real-time analysis and shows results instantly on the dashboard.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clear visual outputs such as charts, risk indicators, and alerts for easy monitoring.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events are stored in audit logs, which helps in traceability, historical analysis, and future investigation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CAD detects anomalous activities using behavioral analysis and dynamic risk scoring. </a:t>
            </a:r>
          </a:p>
        </p:txBody>
      </p:sp>
    </p:spTree>
    <p:extLst>
      <p:ext uri="{BB962C8B-B14F-4D97-AF65-F5344CB8AC3E}">
        <p14:creationId xmlns:p14="http://schemas.microsoft.com/office/powerpoint/2010/main" val="1480010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CEEA21-35C3-468D-CAF2-EC60909E66B0}"/>
              </a:ext>
            </a:extLst>
          </p:cNvPr>
          <p:cNvSpPr txBox="1"/>
          <p:nvPr/>
        </p:nvSpPr>
        <p:spPr>
          <a:xfrm>
            <a:off x="490654" y="524146"/>
            <a:ext cx="11452302" cy="5308505"/>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 ADVANTAGES OF CAD SYSTEM</a:t>
            </a:r>
          </a:p>
          <a:p>
            <a:pPr>
              <a:buNone/>
            </a:pPr>
            <a:endParaRPr lang="en-US" sz="2800"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Real-time anomaly detection</a:t>
            </a:r>
            <a:r>
              <a:rPr lang="en-US" dirty="0">
                <a:latin typeface="Times New Roman" panose="02020603050405020304" pitchFamily="18" charset="0"/>
                <a:cs typeface="Times New Roman" panose="02020603050405020304" pitchFamily="18" charset="0"/>
              </a:rPr>
              <a:t> – Identifies threats instantly without delay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Detects unknown attacks</a:t>
            </a:r>
            <a:r>
              <a:rPr lang="en-US" dirty="0">
                <a:latin typeface="Times New Roman" panose="02020603050405020304" pitchFamily="18" charset="0"/>
                <a:cs typeface="Times New Roman" panose="02020603050405020304" pitchFamily="18" charset="0"/>
              </a:rPr>
              <a:t> – Works beyond signature-based methods (zero-day detection)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Dynamic risk scoring</a:t>
            </a:r>
            <a:r>
              <a:rPr lang="en-US" dirty="0">
                <a:latin typeface="Times New Roman" panose="02020603050405020304" pitchFamily="18" charset="0"/>
                <a:cs typeface="Times New Roman" panose="02020603050405020304" pitchFamily="18" charset="0"/>
              </a:rPr>
              <a:t> – Assigns risk levels (Low, Medium, High) for better prioritization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Reduced false positives</a:t>
            </a:r>
            <a:r>
              <a:rPr lang="en-US" dirty="0">
                <a:latin typeface="Times New Roman" panose="02020603050405020304" pitchFamily="18" charset="0"/>
                <a:cs typeface="Times New Roman" panose="02020603050405020304" pitchFamily="18" charset="0"/>
              </a:rPr>
              <a:t> – Improves accuracy compared to traditional systems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Behavior-based analysis</a:t>
            </a:r>
            <a:r>
              <a:rPr lang="en-US" dirty="0">
                <a:latin typeface="Times New Roman" panose="02020603050405020304" pitchFamily="18" charset="0"/>
                <a:cs typeface="Times New Roman" panose="02020603050405020304" pitchFamily="18" charset="0"/>
              </a:rPr>
              <a:t> – Detects deviations in user and system activities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Secure audit logging</a:t>
            </a:r>
            <a:r>
              <a:rPr lang="en-US" dirty="0">
                <a:latin typeface="Times New Roman" panose="02020603050405020304" pitchFamily="18" charset="0"/>
                <a:cs typeface="Times New Roman" panose="02020603050405020304" pitchFamily="18" charset="0"/>
              </a:rPr>
              <a:t> – Stores data in a tamper-resistant and structured format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Interactive dashboard</a:t>
            </a:r>
            <a:r>
              <a:rPr lang="en-US" dirty="0">
                <a:latin typeface="Times New Roman" panose="02020603050405020304" pitchFamily="18" charset="0"/>
                <a:cs typeface="Times New Roman" panose="02020603050405020304" pitchFamily="18" charset="0"/>
              </a:rPr>
              <a:t> – Provides clear visualization for easy monitoring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Scalable and flexible</a:t>
            </a:r>
            <a:r>
              <a:rPr lang="en-US" dirty="0">
                <a:latin typeface="Times New Roman" panose="02020603050405020304" pitchFamily="18" charset="0"/>
                <a:cs typeface="Times New Roman" panose="02020603050405020304" pitchFamily="18" charset="0"/>
              </a:rPr>
              <a:t> – Can be upgraded with AI, ML, and blockchain technologies</a:t>
            </a:r>
          </a:p>
        </p:txBody>
      </p:sp>
    </p:spTree>
    <p:extLst>
      <p:ext uri="{BB962C8B-B14F-4D97-AF65-F5344CB8AC3E}">
        <p14:creationId xmlns:p14="http://schemas.microsoft.com/office/powerpoint/2010/main" val="1431259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93603-F1A7-B34C-BB5E-2A45A67D03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E60F1E-6D49-FB6B-7731-EA0920F0C164}"/>
              </a:ext>
            </a:extLst>
          </p:cNvPr>
          <p:cNvSpPr txBox="1"/>
          <p:nvPr/>
        </p:nvSpPr>
        <p:spPr>
          <a:xfrm>
            <a:off x="490654" y="528246"/>
            <a:ext cx="11452302" cy="4955203"/>
          </a:xfrm>
          <a:prstGeom prst="rect">
            <a:avLst/>
          </a:prstGeom>
          <a:noFill/>
        </p:spPr>
        <p:txBody>
          <a:bodyPr wrap="square">
            <a:spAutoFit/>
          </a:bodyPr>
          <a:lstStyle/>
          <a:p>
            <a:r>
              <a:rPr lang="en-US" b="1" dirty="0"/>
              <a:t> </a:t>
            </a:r>
            <a:r>
              <a:rPr lang="en-US" sz="2800" b="1" dirty="0">
                <a:latin typeface="Times New Roman" panose="02020603050405020304" pitchFamily="18" charset="0"/>
                <a:cs typeface="Times New Roman" panose="02020603050405020304" pitchFamily="18" charset="0"/>
              </a:rPr>
              <a:t>LIMITATIONS OF CAD SYSTEM</a:t>
            </a:r>
          </a:p>
          <a:p>
            <a:endParaRPr lang="en-US"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Rule-based dependency</a:t>
            </a:r>
            <a:r>
              <a:rPr lang="en-US" dirty="0">
                <a:latin typeface="Times New Roman" panose="02020603050405020304" pitchFamily="18" charset="0"/>
                <a:cs typeface="Times New Roman" panose="02020603050405020304" pitchFamily="18" charset="0"/>
              </a:rPr>
              <a:t> – Limited intelligence without advanced ML models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Not fully tested in real-world environments</a:t>
            </a:r>
            <a:r>
              <a:rPr lang="en-US" dirty="0">
                <a:latin typeface="Times New Roman" panose="02020603050405020304" pitchFamily="18" charset="0"/>
                <a:cs typeface="Times New Roman" panose="02020603050405020304" pitchFamily="18" charset="0"/>
              </a:rPr>
              <a:t> – Mostly based on simulated data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adaptability</a:t>
            </a:r>
            <a:r>
              <a:rPr lang="en-US" dirty="0">
                <a:latin typeface="Times New Roman" panose="02020603050405020304" pitchFamily="18" charset="0"/>
                <a:cs typeface="Times New Roman" panose="02020603050405020304" pitchFamily="18" charset="0"/>
              </a:rPr>
              <a:t> – May struggle with highly complex attack patterns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 deep learning integration</a:t>
            </a:r>
            <a:r>
              <a:rPr lang="en-US" dirty="0">
                <a:latin typeface="Times New Roman" panose="02020603050405020304" pitchFamily="18" charset="0"/>
                <a:cs typeface="Times New Roman" panose="02020603050405020304" pitchFamily="18" charset="0"/>
              </a:rPr>
              <a:t> – Reduces detection capability for advanced threats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 depends on input quality</a:t>
            </a:r>
            <a:r>
              <a:rPr lang="en-US" dirty="0">
                <a:latin typeface="Times New Roman" panose="02020603050405020304" pitchFamily="18" charset="0"/>
                <a:cs typeface="Times New Roman" panose="02020603050405020304" pitchFamily="18" charset="0"/>
              </a:rPr>
              <a:t> – Poor data affects accuracy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Scalability challenges</a:t>
            </a:r>
            <a:r>
              <a:rPr lang="en-US" dirty="0">
                <a:latin typeface="Times New Roman" panose="02020603050405020304" pitchFamily="18" charset="0"/>
                <a:cs typeface="Times New Roman" panose="02020603050405020304" pitchFamily="18" charset="0"/>
              </a:rPr>
              <a:t> – Needs optimization for large-scale deployment </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Lack of automation in response</a:t>
            </a:r>
            <a:r>
              <a:rPr lang="en-US" dirty="0">
                <a:latin typeface="Times New Roman" panose="02020603050405020304" pitchFamily="18" charset="0"/>
                <a:cs typeface="Times New Roman" panose="02020603050405020304" pitchFamily="18" charset="0"/>
              </a:rPr>
              <a:t> – Only detects, does not automatically response</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45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93790" y="597456"/>
            <a:ext cx="4961811" cy="620078"/>
          </a:xfrm>
          <a:prstGeom prst="rect">
            <a:avLst/>
          </a:prstGeom>
          <a:noFill/>
          <a:ln/>
        </p:spPr>
        <p:txBody>
          <a:bodyPr wrap="none" lIns="0" tIns="0" rIns="0" bIns="0" rtlCol="0" anchor="t"/>
          <a:lstStyle/>
          <a:p>
            <a:pPr marL="0" indent="0" algn="l">
              <a:lnSpc>
                <a:spcPts val="4850"/>
              </a:lnSpc>
              <a:buNone/>
            </a:pPr>
            <a:r>
              <a:rPr lang="en-US" sz="2800" b="1" dirty="0">
                <a:latin typeface="Times New Roman" panose="02020603050405020304" pitchFamily="18" charset="0"/>
                <a:cs typeface="Times New Roman" panose="02020603050405020304" pitchFamily="18" charset="0"/>
              </a:rPr>
              <a:t>CONCLUSION</a:t>
            </a:r>
          </a:p>
        </p:txBody>
      </p:sp>
      <p:sp>
        <p:nvSpPr>
          <p:cNvPr id="4" name="Text 1"/>
          <p:cNvSpPr/>
          <p:nvPr/>
        </p:nvSpPr>
        <p:spPr>
          <a:xfrm>
            <a:off x="793790" y="1393032"/>
            <a:ext cx="9454181" cy="952619"/>
          </a:xfrm>
          <a:prstGeom prst="rect">
            <a:avLst/>
          </a:prstGeom>
          <a:noFill/>
          <a:ln/>
        </p:spPr>
        <p:txBody>
          <a:bodyPr wrap="square" lIns="0" tIns="0" rIns="0" bIns="0" rtlCol="0" anchor="t"/>
          <a:lstStyle/>
          <a:p>
            <a:pPr marL="285750" indent="-285750" algn="just">
              <a:lnSpc>
                <a:spcPts val="2500"/>
              </a:lnSpc>
              <a:buFont typeface="Arial" panose="020B0604020202020204" pitchFamily="34" charset="0"/>
              <a:buChar char="•"/>
            </a:pPr>
            <a:r>
              <a:rPr lang="en-US" dirty="0">
                <a:latin typeface="Times New Roman" panose="02020603050405020304" pitchFamily="18" charset="0"/>
                <a:ea typeface="Source Sans 3" pitchFamily="34" charset="-122"/>
                <a:cs typeface="Times New Roman" panose="02020603050405020304" pitchFamily="18" charset="0"/>
              </a:rPr>
              <a:t>CAD presents a comprehensive, scalable solution that overcomes the limitations of traditional signature-based systems by integrating </a:t>
            </a:r>
            <a:r>
              <a:rPr lang="en-US" b="1" dirty="0">
                <a:latin typeface="Times New Roman" panose="02020603050405020304" pitchFamily="18" charset="0"/>
                <a:ea typeface="Source Sans 3" pitchFamily="34" charset="-122"/>
                <a:cs typeface="Times New Roman" panose="02020603050405020304" pitchFamily="18" charset="0"/>
              </a:rPr>
              <a:t>behavior-based anomaly detection</a:t>
            </a:r>
            <a:r>
              <a:rPr lang="en-US" dirty="0">
                <a:latin typeface="Times New Roman" panose="02020603050405020304" pitchFamily="18" charset="0"/>
                <a:ea typeface="Source Sans 3" pitchFamily="34" charset="-122"/>
                <a:cs typeface="Times New Roman" panose="02020603050405020304" pitchFamily="18" charset="0"/>
              </a:rPr>
              <a:t>, </a:t>
            </a:r>
            <a:r>
              <a:rPr lang="en-US" b="1" dirty="0">
                <a:latin typeface="Times New Roman" panose="02020603050405020304" pitchFamily="18" charset="0"/>
                <a:ea typeface="Source Sans 3" pitchFamily="34" charset="-122"/>
                <a:cs typeface="Times New Roman" panose="02020603050405020304" pitchFamily="18" charset="0"/>
              </a:rPr>
              <a:t>dynamic risk scoring</a:t>
            </a:r>
            <a:r>
              <a:rPr lang="en-US" dirty="0">
                <a:latin typeface="Times New Roman" panose="02020603050405020304" pitchFamily="18" charset="0"/>
                <a:ea typeface="Source Sans 3" pitchFamily="34" charset="-122"/>
                <a:cs typeface="Times New Roman" panose="02020603050405020304" pitchFamily="18" charset="0"/>
              </a:rPr>
              <a:t>, and </a:t>
            </a:r>
            <a:r>
              <a:rPr lang="en-US" b="1" dirty="0">
                <a:latin typeface="Times New Roman" panose="02020603050405020304" pitchFamily="18" charset="0"/>
                <a:ea typeface="Source Sans 3" pitchFamily="34" charset="-122"/>
                <a:cs typeface="Times New Roman" panose="02020603050405020304" pitchFamily="18" charset="0"/>
              </a:rPr>
              <a:t>secure audit logging</a:t>
            </a:r>
            <a:r>
              <a:rPr lang="en-US" dirty="0">
                <a:latin typeface="Times New Roman" panose="02020603050405020304" pitchFamily="18" charset="0"/>
                <a:ea typeface="Source Sans 3" pitchFamily="34" charset="-122"/>
                <a:cs typeface="Times New Roman" panose="02020603050405020304" pitchFamily="18" charset="0"/>
              </a:rPr>
              <a:t> into a unified framework</a:t>
            </a:r>
            <a:r>
              <a:rPr lang="en-US" dirty="0">
                <a:solidFill>
                  <a:srgbClr val="2B4150"/>
                </a:solidFill>
                <a:latin typeface="Times New Roman" panose="02020603050405020304" pitchFamily="18" charset="0"/>
                <a:ea typeface="Source Sans 3"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992148" y="2889409"/>
            <a:ext cx="2480905"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Current Strengths :</a:t>
            </a:r>
            <a:endParaRPr lang="en-US" b="1" dirty="0">
              <a:latin typeface="Times New Roman" panose="02020603050405020304" pitchFamily="18" charset="0"/>
              <a:cs typeface="Times New Roman" panose="02020603050405020304" pitchFamily="18" charset="0"/>
            </a:endParaRPr>
          </a:p>
        </p:txBody>
      </p:sp>
      <p:sp>
        <p:nvSpPr>
          <p:cNvPr id="8" name="Text 5"/>
          <p:cNvSpPr/>
          <p:nvPr/>
        </p:nvSpPr>
        <p:spPr>
          <a:xfrm>
            <a:off x="992148" y="3318629"/>
            <a:ext cx="7159704" cy="635079"/>
          </a:xfrm>
          <a:prstGeom prst="rect">
            <a:avLst/>
          </a:prstGeom>
          <a:noFill/>
          <a:ln/>
        </p:spPr>
        <p:txBody>
          <a:bodyPr wrap="square" lIns="0" tIns="0" rIns="0" bIns="0" rtlCol="0" anchor="t"/>
          <a:lstStyle/>
          <a:p>
            <a:pPr marL="0" indent="0" algn="l">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Real-time detection, efficient risk classification, transparent logging, and an intuitive dashboard — all in a lightweight, deployable package</a:t>
            </a:r>
            <a:r>
              <a:rPr lang="en-US" sz="1550" dirty="0">
                <a:solidFill>
                  <a:srgbClr val="2B4150"/>
                </a:solidFill>
                <a:latin typeface="Source Sans 3" pitchFamily="34" charset="0"/>
                <a:ea typeface="Source Sans 3" pitchFamily="34" charset="-122"/>
                <a:cs typeface="Source Sans 3" pitchFamily="34" charset="-120"/>
              </a:rPr>
              <a:t>.</a:t>
            </a:r>
            <a:endParaRPr lang="en-US" sz="1550" dirty="0"/>
          </a:p>
        </p:txBody>
      </p:sp>
      <p:sp>
        <p:nvSpPr>
          <p:cNvPr id="10" name="Shape 7"/>
          <p:cNvSpPr/>
          <p:nvPr/>
        </p:nvSpPr>
        <p:spPr>
          <a:xfrm>
            <a:off x="992148" y="4129207"/>
            <a:ext cx="10479777" cy="45719"/>
          </a:xfrm>
          <a:prstGeom prst="roundRect">
            <a:avLst>
              <a:gd name="adj" fmla="val 130232"/>
            </a:avLst>
          </a:prstGeom>
          <a:solidFill>
            <a:srgbClr val="D9D4C9"/>
          </a:solidFill>
          <a:ln>
            <a:solidFill>
              <a:schemeClr val="bg2">
                <a:lumMod val="10000"/>
              </a:schemeClr>
            </a:solidFill>
          </a:ln>
        </p:spPr>
      </p:sp>
      <p:sp>
        <p:nvSpPr>
          <p:cNvPr id="11" name="Text 8"/>
          <p:cNvSpPr/>
          <p:nvPr/>
        </p:nvSpPr>
        <p:spPr>
          <a:xfrm>
            <a:off x="992148" y="4350425"/>
            <a:ext cx="2615803" cy="310158"/>
          </a:xfrm>
          <a:prstGeom prst="rect">
            <a:avLst/>
          </a:prstGeom>
          <a:noFill/>
          <a:ln/>
        </p:spPr>
        <p:txBody>
          <a:bodyPr wrap="none" lIns="0" tIns="0" rIns="0" bIns="0" rtlCol="0" anchor="t"/>
          <a:lstStyle/>
          <a:p>
            <a:pPr marL="0" indent="0" algn="l">
              <a:lnSpc>
                <a:spcPts val="2400"/>
              </a:lnSpc>
              <a:buNone/>
            </a:pPr>
            <a:r>
              <a:rPr lang="en-US" b="1" dirty="0">
                <a:latin typeface="Times New Roman" panose="02020603050405020304" pitchFamily="18" charset="0"/>
                <a:ea typeface="MuseoModerno Medium" pitchFamily="34" charset="-122"/>
                <a:cs typeface="Times New Roman" panose="02020603050405020304" pitchFamily="18" charset="0"/>
              </a:rPr>
              <a:t>Future Enhancements :</a:t>
            </a:r>
            <a:endParaRPr lang="en-US" b="1" dirty="0">
              <a:latin typeface="Times New Roman" panose="02020603050405020304" pitchFamily="18" charset="0"/>
              <a:cs typeface="Times New Roman" panose="02020603050405020304" pitchFamily="18" charset="0"/>
            </a:endParaRPr>
          </a:p>
        </p:txBody>
      </p:sp>
      <p:sp>
        <p:nvSpPr>
          <p:cNvPr id="12" name="Text 9"/>
          <p:cNvSpPr/>
          <p:nvPr/>
        </p:nvSpPr>
        <p:spPr>
          <a:xfrm>
            <a:off x="992148" y="4678657"/>
            <a:ext cx="7159704" cy="952619"/>
          </a:xfrm>
          <a:prstGeom prst="rect">
            <a:avLst/>
          </a:prstGeom>
          <a:noFill/>
          <a:ln/>
        </p:spPr>
        <p:txBody>
          <a:bodyPr wrap="square" lIns="0" tIns="0" rIns="0" bIns="0" rtlCol="0" anchor="t"/>
          <a:lstStyle/>
          <a:p>
            <a:pPr marL="0" indent="0" algn="just">
              <a:lnSpc>
                <a:spcPts val="2500"/>
              </a:lnSpc>
              <a:buNone/>
            </a:pPr>
            <a:r>
              <a:rPr lang="en-US" dirty="0">
                <a:latin typeface="Times New Roman" panose="02020603050405020304" pitchFamily="18" charset="0"/>
                <a:ea typeface="Source Sans 3" pitchFamily="34" charset="-122"/>
                <a:cs typeface="Times New Roman" panose="02020603050405020304" pitchFamily="18" charset="0"/>
              </a:rPr>
              <a:t>Integration of advanced ML/deep learning models, real-time network traffic analysis, and blockchain-based security mechanisms to further improve accuracy and scalability</a:t>
            </a:r>
            <a:r>
              <a:rPr lang="en-US" dirty="0">
                <a:solidFill>
                  <a:srgbClr val="2B4150"/>
                </a:solidFill>
                <a:latin typeface="Times New Roman" panose="02020603050405020304" pitchFamily="18" charset="0"/>
                <a:ea typeface="Source Sans 3"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1"/>
          <p:cNvSpPr/>
          <p:nvPr/>
        </p:nvSpPr>
        <p:spPr>
          <a:xfrm>
            <a:off x="1017348" y="6035945"/>
            <a:ext cx="10281419" cy="952619"/>
          </a:xfrm>
          <a:prstGeom prst="rect">
            <a:avLst/>
          </a:prstGeom>
          <a:noFill/>
          <a:ln/>
        </p:spPr>
        <p:txBody>
          <a:bodyPr wrap="square" lIns="0" tIns="0" rIns="0" bIns="0" rtlCol="0" anchor="t"/>
          <a:lstStyle/>
          <a:p>
            <a:pPr marL="0" indent="0" algn="l">
              <a:lnSpc>
                <a:spcPts val="2500"/>
              </a:lnSpc>
              <a:buNone/>
            </a:pPr>
            <a:r>
              <a:rPr lang="en-US" b="1" dirty="0">
                <a:latin typeface="Times New Roman" panose="02020603050405020304" pitchFamily="18" charset="0"/>
                <a:ea typeface="Source Sans 3" pitchFamily="34" charset="-122"/>
                <a:cs typeface="Times New Roman" panose="02020603050405020304" pitchFamily="18" charset="0"/>
              </a:rPr>
              <a:t>Key Takeaway:</a:t>
            </a:r>
            <a:r>
              <a:rPr lang="en-US" dirty="0">
                <a:latin typeface="Times New Roman" panose="02020603050405020304" pitchFamily="18" charset="0"/>
                <a:ea typeface="Source Sans 3" pitchFamily="34" charset="-122"/>
                <a:cs typeface="Times New Roman" panose="02020603050405020304" pitchFamily="18" charset="0"/>
              </a:rPr>
              <a:t> CAD represents a promising step toward intelligent, adaptive cybersecurity — bridging the gap between traditional rule-based systems and next-generation AI-driven threat detection.</a:t>
            </a:r>
            <a:endParaRPr lang="en-US" dirty="0">
              <a:latin typeface="Times New Roman" panose="02020603050405020304" pitchFamily="18" charset="0"/>
              <a:cs typeface="Times New Roman" panose="02020603050405020304" pitchFamily="18" charset="0"/>
            </a:endParaRPr>
          </a:p>
        </p:txBody>
      </p:sp>
      <p:sp>
        <p:nvSpPr>
          <p:cNvPr id="17" name="Shape 7">
            <a:extLst>
              <a:ext uri="{FF2B5EF4-FFF2-40B4-BE49-F238E27FC236}">
                <a16:creationId xmlns:a16="http://schemas.microsoft.com/office/drawing/2014/main" id="{4D88C351-42C5-539A-2E02-3DF49EC7BCC0}"/>
              </a:ext>
            </a:extLst>
          </p:cNvPr>
          <p:cNvSpPr/>
          <p:nvPr/>
        </p:nvSpPr>
        <p:spPr>
          <a:xfrm>
            <a:off x="992147" y="5805380"/>
            <a:ext cx="10479777" cy="45719"/>
          </a:xfrm>
          <a:prstGeom prst="roundRect">
            <a:avLst>
              <a:gd name="adj" fmla="val 130232"/>
            </a:avLst>
          </a:prstGeom>
          <a:solidFill>
            <a:srgbClr val="D9D4C9"/>
          </a:solidFill>
          <a:ln>
            <a:solidFill>
              <a:schemeClr val="bg2">
                <a:lumMod val="10000"/>
              </a:schemeClr>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99080-9836-6B1C-835F-972E5CAF5128}"/>
              </a:ext>
            </a:extLst>
          </p:cNvPr>
          <p:cNvSpPr txBox="1"/>
          <p:nvPr/>
        </p:nvSpPr>
        <p:spPr>
          <a:xfrm>
            <a:off x="434898" y="764302"/>
            <a:ext cx="2598788"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8034086-0429-EE85-AE9F-C4A69A799885}"/>
              </a:ext>
            </a:extLst>
          </p:cNvPr>
          <p:cNvSpPr txBox="1"/>
          <p:nvPr/>
        </p:nvSpPr>
        <p:spPr>
          <a:xfrm>
            <a:off x="479502" y="1430677"/>
            <a:ext cx="11351941" cy="6690550"/>
          </a:xfrm>
          <a:prstGeom prst="rect">
            <a:avLst/>
          </a:prstGeom>
          <a:noFill/>
        </p:spPr>
        <p:txBody>
          <a:bodyPr wrap="square" rtlCol="0">
            <a:spAutoFit/>
          </a:bodyPr>
          <a:lstStyle/>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H. Rahman and Y. O. Mohamed, “Power system cybersecurity: A survey,” IEEE Access, vol. 8, pp. 111576–111588, 2020.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R. D. L. et al., “Deep learning for cybersecurity: State-of-the-art and challenges,” IEEE Access, vol. 8, pp. 53841–53870, 2020.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B. Poudel and C.-H. Kim, “Secure and efficient machine learning for smart grids,” IEEE Trans. Smart Grid, vol. 11, no. 6, pp. 5005–5013, 2020.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L. Wang, H. Jin, and S. Yang, “LSTM-based detection of cyber-attacks in smart grids,” in Proc. IEEE PESGM, 2020.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Y. Liu et al., “Deep learning for cybersecurity anomaly detection: A survey,” IEEE Trans. Dependable Secure </a:t>
            </a:r>
            <a:r>
              <a:rPr lang="en-IN" dirty="0" err="1">
                <a:latin typeface="Times New Roman" panose="02020603050405020304" pitchFamily="18" charset="0"/>
                <a:cs typeface="Times New Roman" panose="02020603050405020304" pitchFamily="18" charset="0"/>
              </a:rPr>
              <a:t>Comput</a:t>
            </a:r>
            <a:r>
              <a:rPr lang="en-IN" dirty="0">
                <a:latin typeface="Times New Roman" panose="02020603050405020304" pitchFamily="18" charset="0"/>
                <a:cs typeface="Times New Roman" panose="02020603050405020304" pitchFamily="18" charset="0"/>
              </a:rPr>
              <a:t>., vol. 18, pp. 2224–2241, 2021.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K. Zhao et al., “A survey of anomaly detection methods for IoT systems,” IEEE Access, vol. 9, pp. 128269–128290, 2021.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A. Sahu et al., “Multi-source data fusion for cyberattack detection,” IEEE Access, vol. 9, pp. 112456–112470, 2021.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Y. Farrukh et al., “Supervised ML approach for cyber attack detection,” in Proc. IEEE NAPS, 2021.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V. S. K. et al., “SHAP-enhanced intrusion detection system,” in Proc. ACM SAC, 2023. </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S. Hussain et al., “Hybrid methodology to secure smart grids,” Scientific Reports, vol. 13, 2023. </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5303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8CF-35CE-0C55-08D8-FF37B0701094}"/>
              </a:ext>
            </a:extLst>
          </p:cNvPr>
          <p:cNvSpPr>
            <a:spLocks noGrp="1"/>
          </p:cNvSpPr>
          <p:nvPr>
            <p:ph type="title"/>
          </p:nvPr>
        </p:nvSpPr>
        <p:spPr>
          <a:xfrm>
            <a:off x="3718560" y="3657600"/>
            <a:ext cx="6583680" cy="914400"/>
          </a:xfrm>
        </p:spPr>
        <p:txBody>
          <a:bodyPr/>
          <a:lstStyle/>
          <a:p>
            <a:r>
              <a:rPr lang="en-IN" dirty="0">
                <a:latin typeface="Times New Roman" panose="02020603050405020304" pitchFamily="18" charset="0"/>
                <a:cs typeface="Times New Roman" panose="02020603050405020304" pitchFamily="18" charset="0"/>
              </a:rPr>
              <a:t>THANK YOU…!</a:t>
            </a:r>
            <a:endParaRPr lang="en-IN" dirty="0"/>
          </a:p>
        </p:txBody>
      </p:sp>
    </p:spTree>
    <p:extLst>
      <p:ext uri="{BB962C8B-B14F-4D97-AF65-F5344CB8AC3E}">
        <p14:creationId xmlns:p14="http://schemas.microsoft.com/office/powerpoint/2010/main" val="3072323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857</TotalTime>
  <Words>1908</Words>
  <Application>Microsoft Office PowerPoint</Application>
  <PresentationFormat>Custom</PresentationFormat>
  <Paragraphs>230</Paragraphs>
  <Slides>20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Times New Roman</vt:lpstr>
      <vt:lpstr>Source Sans 3</vt:lpstr>
      <vt:lpstr>Calibri</vt:lpstr>
      <vt:lpstr>Arial</vt:lpstr>
      <vt:lpstr>MuseoModerno Light</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HATHOR</dc:creator>
  <cp:lastModifiedBy>Gopinath G</cp:lastModifiedBy>
  <cp:revision>24</cp:revision>
  <dcterms:created xsi:type="dcterms:W3CDTF">2026-04-09T08:39:10Z</dcterms:created>
  <dcterms:modified xsi:type="dcterms:W3CDTF">2026-04-10T21:20:50Z</dcterms:modified>
</cp:coreProperties>
</file>